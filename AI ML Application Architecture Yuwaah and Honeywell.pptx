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3" r:id="rId4"/>
  </p:sldMasterIdLst>
  <p:notesMasterIdLst>
    <p:notesMasterId r:id="rId7"/>
  </p:notesMasterIdLst>
  <p:sldIdLst>
    <p:sldId id="258" r:id="rId5"/>
    <p:sldId id="259" r:id="rId6"/>
    <p:sldId id="260" r:id="rId8"/>
    <p:sldId id="283" r:id="rId9"/>
    <p:sldId id="263" r:id="rId10"/>
    <p:sldId id="264" r:id="rId11"/>
    <p:sldId id="261" r:id="rId12"/>
    <p:sldId id="265" r:id="rId13"/>
    <p:sldId id="267" r:id="rId14"/>
    <p:sldId id="268" r:id="rId15"/>
    <p:sldId id="271" r:id="rId16"/>
    <p:sldId id="274" r:id="rId17"/>
    <p:sldId id="275" r:id="rId18"/>
    <p:sldId id="277" r:id="rId19"/>
    <p:sldId id="276" r:id="rId20"/>
    <p:sldId id="273" r:id="rId21"/>
    <p:sldId id="272" r:id="rId22"/>
    <p:sldId id="270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54703-4279-46F3-A62C-474F3ACA9FE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82FFC-FF7B-48CB-A030-7161FF33085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A6A6A6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50" spc="-60" baseline="4000" dirty="0"/>
              <a:t>Company </a:t>
            </a:r>
            <a:r>
              <a:rPr sz="1050" spc="-30" baseline="4000" dirty="0"/>
              <a:t>Confidential</a:t>
            </a:r>
            <a:r>
              <a:rPr sz="1050" spc="-37" baseline="4000" dirty="0"/>
              <a:t> </a:t>
            </a:r>
            <a:r>
              <a:rPr sz="1050" spc="75" baseline="4000" dirty="0"/>
              <a:t>©</a:t>
            </a:r>
            <a:r>
              <a:rPr sz="1050" spc="-44" baseline="4000" dirty="0"/>
              <a:t> </a:t>
            </a:r>
            <a:r>
              <a:rPr sz="1050" spc="-52" baseline="4000" dirty="0"/>
              <a:t>Capgemini </a:t>
            </a:r>
            <a:r>
              <a:rPr sz="1050" baseline="4000" dirty="0"/>
              <a:t>2022.</a:t>
            </a:r>
            <a:r>
              <a:rPr sz="1050" spc="-44" baseline="4000" dirty="0"/>
              <a:t> </a:t>
            </a:r>
            <a:r>
              <a:rPr sz="1050" spc="-30" baseline="4000" dirty="0"/>
              <a:t>All</a:t>
            </a:r>
            <a:r>
              <a:rPr sz="1050" spc="-120" baseline="4000" dirty="0"/>
              <a:t> </a:t>
            </a:r>
            <a:r>
              <a:rPr sz="1050" spc="-37" baseline="4000" dirty="0"/>
              <a:t>rights</a:t>
            </a:r>
            <a:r>
              <a:rPr sz="1050" spc="-44" baseline="4000" dirty="0"/>
              <a:t> reserved</a:t>
            </a:r>
            <a:r>
              <a:rPr sz="1050" spc="-15" baseline="4000" dirty="0"/>
              <a:t> </a:t>
            </a:r>
            <a:r>
              <a:rPr sz="1050" spc="15" baseline="4000" dirty="0"/>
              <a:t>|</a:t>
            </a:r>
            <a:r>
              <a:rPr sz="1050" spc="97" baseline="4000" dirty="0"/>
              <a:t> </a:t>
            </a:r>
            <a:fld id="{81D60167-4931-47E6-BA6A-407CBD079E47}" type="slidenum">
              <a:rPr sz="800" spc="10" dirty="0"/>
            </a:fld>
            <a:endParaRPr sz="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92074" y="6545291"/>
            <a:ext cx="2158365" cy="125095"/>
          </a:xfrm>
          <a:prstGeom prst="rect">
            <a:avLst/>
          </a:prstGeom>
        </p:spPr>
        <p:txBody>
          <a:bodyPr lIns="0" tIns="0" rIns="0" bIns="0"/>
          <a:lstStyle>
            <a:lvl1pPr>
              <a:defRPr sz="700" b="1" i="0">
                <a:solidFill>
                  <a:srgbClr val="A6A6A6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30" dirty="0"/>
              <a:t>Knowledge</a:t>
            </a:r>
            <a:r>
              <a:rPr spc="-20" dirty="0"/>
              <a:t> </a:t>
            </a:r>
            <a:r>
              <a:rPr spc="-40" dirty="0"/>
              <a:t>Insights</a:t>
            </a:r>
            <a:r>
              <a:rPr spc="-20" dirty="0"/>
              <a:t> </a:t>
            </a:r>
            <a:r>
              <a:rPr spc="-50" dirty="0"/>
              <a:t>Services</a:t>
            </a:r>
            <a:r>
              <a:rPr spc="-30" dirty="0"/>
              <a:t> </a:t>
            </a:r>
            <a:r>
              <a:rPr spc="-50" dirty="0"/>
              <a:t>(KIS)</a:t>
            </a:r>
            <a:r>
              <a:rPr spc="-45" dirty="0"/>
              <a:t> </a:t>
            </a:r>
            <a:r>
              <a:rPr spc="-5" dirty="0"/>
              <a:t>2.0r</a:t>
            </a:r>
            <a:r>
              <a:rPr spc="-30" dirty="0"/>
              <a:t> </a:t>
            </a:r>
            <a:r>
              <a:rPr spc="10" dirty="0"/>
              <a:t>|</a:t>
            </a:r>
            <a:r>
              <a:rPr spc="-60" dirty="0"/>
              <a:t> </a:t>
            </a:r>
            <a:r>
              <a:rPr spc="-30" dirty="0"/>
              <a:t>February</a:t>
            </a:r>
            <a:r>
              <a:rPr spc="-35" dirty="0"/>
              <a:t> </a:t>
            </a:r>
            <a:r>
              <a:rPr spc="5" dirty="0"/>
              <a:t>2022</a:t>
            </a:r>
            <a:endParaRPr spc="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rgbClr val="A6A6A6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50" spc="-60" baseline="4000" dirty="0"/>
              <a:t>Company </a:t>
            </a:r>
            <a:r>
              <a:rPr sz="1050" spc="-30" baseline="4000" dirty="0"/>
              <a:t>Confidential</a:t>
            </a:r>
            <a:r>
              <a:rPr sz="1050" spc="-37" baseline="4000" dirty="0"/>
              <a:t> </a:t>
            </a:r>
            <a:r>
              <a:rPr sz="1050" spc="75" baseline="4000" dirty="0"/>
              <a:t>©</a:t>
            </a:r>
            <a:r>
              <a:rPr sz="1050" spc="-44" baseline="4000" dirty="0"/>
              <a:t> </a:t>
            </a:r>
            <a:r>
              <a:rPr sz="1050" spc="-52" baseline="4000" dirty="0"/>
              <a:t>Capgemini </a:t>
            </a:r>
            <a:r>
              <a:rPr sz="1050" baseline="4000" dirty="0"/>
              <a:t>2022.</a:t>
            </a:r>
            <a:r>
              <a:rPr sz="1050" spc="-44" baseline="4000" dirty="0"/>
              <a:t> </a:t>
            </a:r>
            <a:r>
              <a:rPr sz="1050" spc="-30" baseline="4000" dirty="0"/>
              <a:t>All</a:t>
            </a:r>
            <a:r>
              <a:rPr sz="1050" spc="-120" baseline="4000" dirty="0"/>
              <a:t> </a:t>
            </a:r>
            <a:r>
              <a:rPr sz="1050" spc="-37" baseline="4000" dirty="0"/>
              <a:t>rights</a:t>
            </a:r>
            <a:r>
              <a:rPr sz="1050" spc="-44" baseline="4000" dirty="0"/>
              <a:t> reserved</a:t>
            </a:r>
            <a:r>
              <a:rPr sz="1050" spc="-15" baseline="4000" dirty="0"/>
              <a:t> </a:t>
            </a:r>
            <a:r>
              <a:rPr sz="1050" spc="15" baseline="4000" dirty="0"/>
              <a:t>|</a:t>
            </a:r>
            <a:r>
              <a:rPr sz="1050" spc="97" baseline="4000" dirty="0"/>
              <a:t> </a:t>
            </a:r>
            <a:fld id="{81D60167-4931-47E6-BA6A-407CBD079E47}" type="slidenum">
              <a:rPr sz="800" spc="10" dirty="0"/>
            </a:fld>
            <a:endParaRPr sz="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3A05-EE94-482E-8245-60F7BA1FEA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E7E97-BEED-48C5-B71C-E0F73336EDE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3679-50A4-4B9B-96BC-62AD8218E499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F31A6-81D1-48AB-A4F6-BF34AAD042E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705844" y="367284"/>
            <a:ext cx="276225" cy="227329"/>
          </a:xfrm>
          <a:custGeom>
            <a:avLst/>
            <a:gdLst/>
            <a:ahLst/>
            <a:cxnLst/>
            <a:rect l="l" t="t" r="r" b="b"/>
            <a:pathLst>
              <a:path w="276225" h="227329">
                <a:moveTo>
                  <a:pt x="206882" y="0"/>
                </a:moveTo>
                <a:lnTo>
                  <a:pt x="174115" y="9665"/>
                </a:lnTo>
                <a:lnTo>
                  <a:pt x="147530" y="34832"/>
                </a:lnTo>
                <a:lnTo>
                  <a:pt x="123828" y="69759"/>
                </a:lnTo>
                <a:lnTo>
                  <a:pt x="99711" y="108703"/>
                </a:lnTo>
                <a:lnTo>
                  <a:pt x="71881" y="145923"/>
                </a:lnTo>
                <a:lnTo>
                  <a:pt x="64775" y="169177"/>
                </a:lnTo>
                <a:lnTo>
                  <a:pt x="49133" y="189087"/>
                </a:lnTo>
                <a:lnTo>
                  <a:pt x="26894" y="204019"/>
                </a:lnTo>
                <a:lnTo>
                  <a:pt x="0" y="212343"/>
                </a:lnTo>
                <a:lnTo>
                  <a:pt x="8669" y="218396"/>
                </a:lnTo>
                <a:lnTo>
                  <a:pt x="21066" y="223043"/>
                </a:lnTo>
                <a:lnTo>
                  <a:pt x="36486" y="226024"/>
                </a:lnTo>
                <a:lnTo>
                  <a:pt x="54228" y="227075"/>
                </a:lnTo>
                <a:lnTo>
                  <a:pt x="89733" y="224549"/>
                </a:lnTo>
                <a:lnTo>
                  <a:pt x="125475" y="216773"/>
                </a:lnTo>
                <a:lnTo>
                  <a:pt x="157884" y="203448"/>
                </a:lnTo>
                <a:lnTo>
                  <a:pt x="183387" y="184276"/>
                </a:lnTo>
                <a:lnTo>
                  <a:pt x="157430" y="180717"/>
                </a:lnTo>
                <a:lnTo>
                  <a:pt x="137366" y="168846"/>
                </a:lnTo>
                <a:lnTo>
                  <a:pt x="124184" y="150308"/>
                </a:lnTo>
                <a:lnTo>
                  <a:pt x="118872" y="126745"/>
                </a:lnTo>
                <a:lnTo>
                  <a:pt x="132845" y="140964"/>
                </a:lnTo>
                <a:lnTo>
                  <a:pt x="148367" y="150574"/>
                </a:lnTo>
                <a:lnTo>
                  <a:pt x="165270" y="156017"/>
                </a:lnTo>
                <a:lnTo>
                  <a:pt x="183387" y="157733"/>
                </a:lnTo>
                <a:lnTo>
                  <a:pt x="219533" y="150258"/>
                </a:lnTo>
                <a:lnTo>
                  <a:pt x="248904" y="129936"/>
                </a:lnTo>
                <a:lnTo>
                  <a:pt x="268630" y="99923"/>
                </a:lnTo>
                <a:lnTo>
                  <a:pt x="275844" y="63373"/>
                </a:lnTo>
                <a:lnTo>
                  <a:pt x="272087" y="44148"/>
                </a:lnTo>
                <a:lnTo>
                  <a:pt x="262270" y="23399"/>
                </a:lnTo>
                <a:lnTo>
                  <a:pt x="242000" y="6794"/>
                </a:lnTo>
                <a:lnTo>
                  <a:pt x="206882" y="0"/>
                </a:lnTo>
                <a:close/>
              </a:path>
            </a:pathLst>
          </a:custGeom>
          <a:solidFill>
            <a:srgbClr val="12A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562588" y="205740"/>
            <a:ext cx="419100" cy="354330"/>
          </a:xfrm>
          <a:custGeom>
            <a:avLst/>
            <a:gdLst/>
            <a:ahLst/>
            <a:cxnLst/>
            <a:rect l="l" t="t" r="r" b="b"/>
            <a:pathLst>
              <a:path w="419100" h="354330">
                <a:moveTo>
                  <a:pt x="224154" y="0"/>
                </a:moveTo>
                <a:lnTo>
                  <a:pt x="200229" y="22070"/>
                </a:lnTo>
                <a:lnTo>
                  <a:pt x="168128" y="43878"/>
                </a:lnTo>
                <a:lnTo>
                  <a:pt x="131353" y="66544"/>
                </a:lnTo>
                <a:lnTo>
                  <a:pt x="93408" y="91186"/>
                </a:lnTo>
                <a:lnTo>
                  <a:pt x="57797" y="118923"/>
                </a:lnTo>
                <a:lnTo>
                  <a:pt x="28023" y="150876"/>
                </a:lnTo>
                <a:lnTo>
                  <a:pt x="7589" y="188162"/>
                </a:lnTo>
                <a:lnTo>
                  <a:pt x="0" y="231901"/>
                </a:lnTo>
                <a:lnTo>
                  <a:pt x="5536" y="268354"/>
                </a:lnTo>
                <a:lnTo>
                  <a:pt x="45755" y="328021"/>
                </a:lnTo>
                <a:lnTo>
                  <a:pt x="97462" y="352139"/>
                </a:lnTo>
                <a:lnTo>
                  <a:pt x="117236" y="354234"/>
                </a:lnTo>
                <a:lnTo>
                  <a:pt x="137034" y="352758"/>
                </a:lnTo>
                <a:lnTo>
                  <a:pt x="173583" y="341018"/>
                </a:lnTo>
                <a:lnTo>
                  <a:pt x="215391" y="308228"/>
                </a:lnTo>
                <a:lnTo>
                  <a:pt x="243208" y="271124"/>
                </a:lnTo>
                <a:lnTo>
                  <a:pt x="267293" y="232343"/>
                </a:lnTo>
                <a:lnTo>
                  <a:pt x="290958" y="197586"/>
                </a:lnTo>
                <a:lnTo>
                  <a:pt x="317512" y="172552"/>
                </a:lnTo>
                <a:lnTo>
                  <a:pt x="350265" y="162940"/>
                </a:lnTo>
                <a:lnTo>
                  <a:pt x="407143" y="162940"/>
                </a:lnTo>
                <a:lnTo>
                  <a:pt x="399129" y="141763"/>
                </a:lnTo>
                <a:lnTo>
                  <a:pt x="376451" y="106425"/>
                </a:lnTo>
                <a:lnTo>
                  <a:pt x="347344" y="74802"/>
                </a:lnTo>
                <a:lnTo>
                  <a:pt x="294179" y="34671"/>
                </a:lnTo>
                <a:lnTo>
                  <a:pt x="234441" y="4444"/>
                </a:lnTo>
                <a:lnTo>
                  <a:pt x="231520" y="2920"/>
                </a:lnTo>
                <a:lnTo>
                  <a:pt x="228600" y="1524"/>
                </a:lnTo>
                <a:lnTo>
                  <a:pt x="224154" y="0"/>
                </a:lnTo>
                <a:close/>
              </a:path>
              <a:path w="419100" h="354330">
                <a:moveTo>
                  <a:pt x="407143" y="162940"/>
                </a:moveTo>
                <a:lnTo>
                  <a:pt x="350265" y="162940"/>
                </a:lnTo>
                <a:lnTo>
                  <a:pt x="385310" y="169695"/>
                </a:lnTo>
                <a:lnTo>
                  <a:pt x="405542" y="186213"/>
                </a:lnTo>
                <a:lnTo>
                  <a:pt x="415345" y="206875"/>
                </a:lnTo>
                <a:lnTo>
                  <a:pt x="419100" y="226059"/>
                </a:lnTo>
                <a:lnTo>
                  <a:pt x="419100" y="223011"/>
                </a:lnTo>
                <a:lnTo>
                  <a:pt x="413853" y="180673"/>
                </a:lnTo>
                <a:lnTo>
                  <a:pt x="407143" y="162940"/>
                </a:lnTo>
                <a:close/>
              </a:path>
            </a:pathLst>
          </a:custGeom>
          <a:solidFill>
            <a:srgbClr val="006F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111" y="354583"/>
            <a:ext cx="11415776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01595" y="1603247"/>
            <a:ext cx="84709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97416" y="6563293"/>
            <a:ext cx="264985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1" i="0">
                <a:solidFill>
                  <a:srgbClr val="A6A6A6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50" spc="-60" baseline="4000" dirty="0"/>
              <a:t>Company </a:t>
            </a:r>
            <a:r>
              <a:rPr sz="1050" spc="-30" baseline="4000" dirty="0"/>
              <a:t>Confidential</a:t>
            </a:r>
            <a:r>
              <a:rPr sz="1050" spc="-37" baseline="4000" dirty="0"/>
              <a:t> </a:t>
            </a:r>
            <a:r>
              <a:rPr sz="1050" spc="75" baseline="4000" dirty="0"/>
              <a:t>©</a:t>
            </a:r>
            <a:r>
              <a:rPr sz="1050" spc="-44" baseline="4000" dirty="0"/>
              <a:t> </a:t>
            </a:r>
            <a:r>
              <a:rPr sz="1050" spc="-52" baseline="4000" dirty="0"/>
              <a:t>Capgemini </a:t>
            </a:r>
            <a:r>
              <a:rPr sz="1050" baseline="4000" dirty="0"/>
              <a:t>202</a:t>
            </a:r>
            <a:r>
              <a:rPr lang="en-IN" sz="1050" baseline="4000" dirty="0"/>
              <a:t>3</a:t>
            </a:r>
            <a:r>
              <a:rPr sz="1050" baseline="4000" dirty="0"/>
              <a:t>.</a:t>
            </a:r>
            <a:r>
              <a:rPr sz="1050" spc="-44" baseline="4000" dirty="0"/>
              <a:t> </a:t>
            </a:r>
            <a:r>
              <a:rPr sz="1050" spc="-30" baseline="4000" dirty="0"/>
              <a:t>All</a:t>
            </a:r>
            <a:r>
              <a:rPr sz="1050" spc="-120" baseline="4000" dirty="0"/>
              <a:t> </a:t>
            </a:r>
            <a:r>
              <a:rPr sz="1050" spc="-37" baseline="4000" dirty="0"/>
              <a:t>rights</a:t>
            </a:r>
            <a:r>
              <a:rPr sz="1050" spc="-44" baseline="4000" dirty="0"/>
              <a:t> reserved</a:t>
            </a:r>
            <a:r>
              <a:rPr sz="1050" spc="-15" baseline="4000" dirty="0"/>
              <a:t> </a:t>
            </a:r>
            <a:r>
              <a:rPr sz="1050" spc="15" baseline="4000" dirty="0"/>
              <a:t>|</a:t>
            </a:r>
            <a:r>
              <a:rPr sz="1050" spc="97" baseline="4000" dirty="0"/>
              <a:t> </a:t>
            </a:r>
            <a:fld id="{81D60167-4931-47E6-BA6A-407CBD079E47}" type="slidenum">
              <a:rPr sz="800" spc="10" dirty="0"/>
            </a:fld>
            <a:endParaRPr sz="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A3A05-EE94-482E-8245-60F7BA1FEA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7E97-BEED-48C5-B71C-E0F73336EDE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A3679-50A4-4B9B-96BC-62AD8218E49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F31A6-81D1-48AB-A4F6-BF34AAD042E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729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75088" y="781092"/>
            <a:ext cx="258445" cy="210185"/>
          </a:xfrm>
          <a:custGeom>
            <a:avLst/>
            <a:gdLst/>
            <a:ahLst/>
            <a:cxnLst/>
            <a:rect l="l" t="t" r="r" b="b"/>
            <a:pathLst>
              <a:path w="258444" h="210184">
                <a:moveTo>
                  <a:pt x="193951" y="0"/>
                </a:moveTo>
                <a:lnTo>
                  <a:pt x="156317" y="13617"/>
                </a:lnTo>
                <a:lnTo>
                  <a:pt x="126972" y="47531"/>
                </a:lnTo>
                <a:lnTo>
                  <a:pt x="99600" y="91333"/>
                </a:lnTo>
                <a:lnTo>
                  <a:pt x="67883" y="134614"/>
                </a:lnTo>
                <a:lnTo>
                  <a:pt x="60604" y="156275"/>
                </a:lnTo>
                <a:lnTo>
                  <a:pt x="45775" y="174909"/>
                </a:lnTo>
                <a:lnTo>
                  <a:pt x="25029" y="188745"/>
                </a:lnTo>
                <a:lnTo>
                  <a:pt x="0" y="196014"/>
                </a:lnTo>
                <a:lnTo>
                  <a:pt x="8405" y="202016"/>
                </a:lnTo>
                <a:lnTo>
                  <a:pt x="20155" y="206395"/>
                </a:lnTo>
                <a:lnTo>
                  <a:pt x="34647" y="209076"/>
                </a:lnTo>
                <a:lnTo>
                  <a:pt x="51282" y="209987"/>
                </a:lnTo>
                <a:lnTo>
                  <a:pt x="84134" y="207576"/>
                </a:lnTo>
                <a:lnTo>
                  <a:pt x="117234" y="200295"/>
                </a:lnTo>
                <a:lnTo>
                  <a:pt x="147436" y="188069"/>
                </a:lnTo>
                <a:lnTo>
                  <a:pt x="171598" y="170825"/>
                </a:lnTo>
                <a:lnTo>
                  <a:pt x="147348" y="166986"/>
                </a:lnTo>
                <a:lnTo>
                  <a:pt x="128616" y="155767"/>
                </a:lnTo>
                <a:lnTo>
                  <a:pt x="116170" y="138495"/>
                </a:lnTo>
                <a:lnTo>
                  <a:pt x="110782" y="116500"/>
                </a:lnTo>
                <a:lnTo>
                  <a:pt x="124204" y="130083"/>
                </a:lnTo>
                <a:lnTo>
                  <a:pt x="138642" y="139235"/>
                </a:lnTo>
                <a:lnTo>
                  <a:pt x="154190" y="144400"/>
                </a:lnTo>
                <a:lnTo>
                  <a:pt x="170940" y="146023"/>
                </a:lnTo>
                <a:lnTo>
                  <a:pt x="205103" y="139071"/>
                </a:lnTo>
                <a:lnTo>
                  <a:pt x="232701" y="120220"/>
                </a:lnTo>
                <a:lnTo>
                  <a:pt x="251238" y="92476"/>
                </a:lnTo>
                <a:lnTo>
                  <a:pt x="258218" y="58848"/>
                </a:lnTo>
                <a:lnTo>
                  <a:pt x="254348" y="40933"/>
                </a:lnTo>
                <a:lnTo>
                  <a:pt x="245008" y="21672"/>
                </a:lnTo>
                <a:lnTo>
                  <a:pt x="226206" y="6288"/>
                </a:lnTo>
                <a:lnTo>
                  <a:pt x="193951" y="0"/>
                </a:lnTo>
                <a:close/>
              </a:path>
            </a:pathLst>
          </a:custGeom>
          <a:solidFill>
            <a:srgbClr val="00A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6697" y="629373"/>
            <a:ext cx="2237105" cy="497205"/>
          </a:xfrm>
          <a:custGeom>
            <a:avLst/>
            <a:gdLst/>
            <a:ahLst/>
            <a:cxnLst/>
            <a:rect l="l" t="t" r="r" b="b"/>
            <a:pathLst>
              <a:path w="2237105" h="497205">
                <a:moveTo>
                  <a:pt x="1422323" y="57073"/>
                </a:moveTo>
                <a:lnTo>
                  <a:pt x="1420558" y="46875"/>
                </a:lnTo>
                <a:lnTo>
                  <a:pt x="1415605" y="38671"/>
                </a:lnTo>
                <a:lnTo>
                  <a:pt x="1407998" y="33274"/>
                </a:lnTo>
                <a:lnTo>
                  <a:pt x="1398244" y="31483"/>
                </a:lnTo>
                <a:lnTo>
                  <a:pt x="1388173" y="33883"/>
                </a:lnTo>
                <a:lnTo>
                  <a:pt x="1379893" y="39852"/>
                </a:lnTo>
                <a:lnTo>
                  <a:pt x="1374279" y="48475"/>
                </a:lnTo>
                <a:lnTo>
                  <a:pt x="1372196" y="58851"/>
                </a:lnTo>
                <a:lnTo>
                  <a:pt x="1374241" y="69151"/>
                </a:lnTo>
                <a:lnTo>
                  <a:pt x="1379791" y="77393"/>
                </a:lnTo>
                <a:lnTo>
                  <a:pt x="1388008" y="82765"/>
                </a:lnTo>
                <a:lnTo>
                  <a:pt x="1398041" y="84429"/>
                </a:lnTo>
                <a:lnTo>
                  <a:pt x="1407833" y="82042"/>
                </a:lnTo>
                <a:lnTo>
                  <a:pt x="1415516" y="76060"/>
                </a:lnTo>
                <a:lnTo>
                  <a:pt x="1420520" y="67437"/>
                </a:lnTo>
                <a:lnTo>
                  <a:pt x="1422323" y="57073"/>
                </a:lnTo>
                <a:close/>
              </a:path>
              <a:path w="2237105" h="497205">
                <a:moveTo>
                  <a:pt x="1777034" y="65925"/>
                </a:moveTo>
                <a:lnTo>
                  <a:pt x="1775218" y="56172"/>
                </a:lnTo>
                <a:lnTo>
                  <a:pt x="1770240" y="48361"/>
                </a:lnTo>
                <a:lnTo>
                  <a:pt x="1762823" y="43281"/>
                </a:lnTo>
                <a:lnTo>
                  <a:pt x="1753692" y="41719"/>
                </a:lnTo>
                <a:lnTo>
                  <a:pt x="1744446" y="44005"/>
                </a:lnTo>
                <a:lnTo>
                  <a:pt x="1736928" y="49695"/>
                </a:lnTo>
                <a:lnTo>
                  <a:pt x="1731873" y="57886"/>
                </a:lnTo>
                <a:lnTo>
                  <a:pt x="1730032" y="67703"/>
                </a:lnTo>
                <a:lnTo>
                  <a:pt x="1731848" y="77343"/>
                </a:lnTo>
                <a:lnTo>
                  <a:pt x="1736826" y="85115"/>
                </a:lnTo>
                <a:lnTo>
                  <a:pt x="1744243" y="90233"/>
                </a:lnTo>
                <a:lnTo>
                  <a:pt x="1753362" y="91909"/>
                </a:lnTo>
                <a:lnTo>
                  <a:pt x="1762607" y="89623"/>
                </a:lnTo>
                <a:lnTo>
                  <a:pt x="1770138" y="83934"/>
                </a:lnTo>
                <a:lnTo>
                  <a:pt x="1775193" y="75742"/>
                </a:lnTo>
                <a:lnTo>
                  <a:pt x="1777034" y="65925"/>
                </a:lnTo>
                <a:close/>
              </a:path>
              <a:path w="2237105" h="497205">
                <a:moveTo>
                  <a:pt x="1817966" y="318033"/>
                </a:moveTo>
                <a:lnTo>
                  <a:pt x="1783803" y="274853"/>
                </a:lnTo>
                <a:lnTo>
                  <a:pt x="1772729" y="210083"/>
                </a:lnTo>
                <a:lnTo>
                  <a:pt x="1772602" y="170713"/>
                </a:lnTo>
                <a:lnTo>
                  <a:pt x="1772488" y="164363"/>
                </a:lnTo>
                <a:lnTo>
                  <a:pt x="1772081" y="150393"/>
                </a:lnTo>
                <a:lnTo>
                  <a:pt x="1769656" y="136423"/>
                </a:lnTo>
                <a:lnTo>
                  <a:pt x="1764068" y="127533"/>
                </a:lnTo>
                <a:lnTo>
                  <a:pt x="1754022" y="124993"/>
                </a:lnTo>
                <a:lnTo>
                  <a:pt x="1746300" y="124993"/>
                </a:lnTo>
                <a:lnTo>
                  <a:pt x="1742351" y="126263"/>
                </a:lnTo>
                <a:lnTo>
                  <a:pt x="1735620" y="128803"/>
                </a:lnTo>
                <a:lnTo>
                  <a:pt x="1735721" y="191033"/>
                </a:lnTo>
                <a:lnTo>
                  <a:pt x="1728038" y="244373"/>
                </a:lnTo>
                <a:lnTo>
                  <a:pt x="1714652" y="279933"/>
                </a:lnTo>
                <a:lnTo>
                  <a:pt x="1697647" y="293903"/>
                </a:lnTo>
                <a:lnTo>
                  <a:pt x="1685074" y="279933"/>
                </a:lnTo>
                <a:lnTo>
                  <a:pt x="1676806" y="245643"/>
                </a:lnTo>
                <a:lnTo>
                  <a:pt x="1669211" y="199923"/>
                </a:lnTo>
                <a:lnTo>
                  <a:pt x="1659826" y="159283"/>
                </a:lnTo>
                <a:lnTo>
                  <a:pt x="1658658" y="154203"/>
                </a:lnTo>
                <a:lnTo>
                  <a:pt x="1641500" y="119913"/>
                </a:lnTo>
                <a:lnTo>
                  <a:pt x="1614119" y="105943"/>
                </a:lnTo>
                <a:lnTo>
                  <a:pt x="1576654" y="128803"/>
                </a:lnTo>
                <a:lnTo>
                  <a:pt x="1554327" y="180873"/>
                </a:lnTo>
                <a:lnTo>
                  <a:pt x="1542364" y="232943"/>
                </a:lnTo>
                <a:lnTo>
                  <a:pt x="1535976" y="255803"/>
                </a:lnTo>
                <a:lnTo>
                  <a:pt x="1533042" y="249453"/>
                </a:lnTo>
                <a:lnTo>
                  <a:pt x="1531391" y="232943"/>
                </a:lnTo>
                <a:lnTo>
                  <a:pt x="1530781" y="212623"/>
                </a:lnTo>
                <a:lnTo>
                  <a:pt x="1530654" y="185953"/>
                </a:lnTo>
                <a:lnTo>
                  <a:pt x="1532343" y="175793"/>
                </a:lnTo>
                <a:lnTo>
                  <a:pt x="1533588" y="165633"/>
                </a:lnTo>
                <a:lnTo>
                  <a:pt x="1534337" y="156743"/>
                </a:lnTo>
                <a:lnTo>
                  <a:pt x="1534591" y="149123"/>
                </a:lnTo>
                <a:lnTo>
                  <a:pt x="1533207" y="137693"/>
                </a:lnTo>
                <a:lnTo>
                  <a:pt x="1527759" y="126263"/>
                </a:lnTo>
                <a:lnTo>
                  <a:pt x="1516367" y="119913"/>
                </a:lnTo>
                <a:lnTo>
                  <a:pt x="1497101" y="122453"/>
                </a:lnTo>
                <a:lnTo>
                  <a:pt x="1494015" y="194843"/>
                </a:lnTo>
                <a:lnTo>
                  <a:pt x="1484261" y="249453"/>
                </a:lnTo>
                <a:lnTo>
                  <a:pt x="1469720" y="283743"/>
                </a:lnTo>
                <a:lnTo>
                  <a:pt x="1452321" y="295173"/>
                </a:lnTo>
                <a:lnTo>
                  <a:pt x="1431607" y="279933"/>
                </a:lnTo>
                <a:lnTo>
                  <a:pt x="1422349" y="248183"/>
                </a:lnTo>
                <a:lnTo>
                  <a:pt x="1420863" y="243103"/>
                </a:lnTo>
                <a:lnTo>
                  <a:pt x="1416824" y="202463"/>
                </a:lnTo>
                <a:lnTo>
                  <a:pt x="1416227" y="171983"/>
                </a:lnTo>
                <a:lnTo>
                  <a:pt x="1415897" y="150393"/>
                </a:lnTo>
                <a:lnTo>
                  <a:pt x="1412303" y="132613"/>
                </a:lnTo>
                <a:lnTo>
                  <a:pt x="1401381" y="121183"/>
                </a:lnTo>
                <a:lnTo>
                  <a:pt x="1379105" y="122453"/>
                </a:lnTo>
                <a:lnTo>
                  <a:pt x="1371612" y="187223"/>
                </a:lnTo>
                <a:lnTo>
                  <a:pt x="1359738" y="239293"/>
                </a:lnTo>
                <a:lnTo>
                  <a:pt x="1346060" y="274853"/>
                </a:lnTo>
                <a:lnTo>
                  <a:pt x="1333131" y="286283"/>
                </a:lnTo>
                <a:lnTo>
                  <a:pt x="1321930" y="269773"/>
                </a:lnTo>
                <a:lnTo>
                  <a:pt x="1313421" y="229133"/>
                </a:lnTo>
                <a:lnTo>
                  <a:pt x="1303629" y="182143"/>
                </a:lnTo>
                <a:lnTo>
                  <a:pt x="1288630" y="141503"/>
                </a:lnTo>
                <a:lnTo>
                  <a:pt x="1264462" y="124993"/>
                </a:lnTo>
                <a:lnTo>
                  <a:pt x="1236116" y="149123"/>
                </a:lnTo>
                <a:lnTo>
                  <a:pt x="1216926" y="201193"/>
                </a:lnTo>
                <a:lnTo>
                  <a:pt x="1204442" y="254533"/>
                </a:lnTo>
                <a:lnTo>
                  <a:pt x="1196187" y="278663"/>
                </a:lnTo>
                <a:lnTo>
                  <a:pt x="1189774" y="260883"/>
                </a:lnTo>
                <a:lnTo>
                  <a:pt x="1186649" y="217703"/>
                </a:lnTo>
                <a:lnTo>
                  <a:pt x="1180744" y="166903"/>
                </a:lnTo>
                <a:lnTo>
                  <a:pt x="1178140" y="159283"/>
                </a:lnTo>
                <a:lnTo>
                  <a:pt x="1165999" y="123723"/>
                </a:lnTo>
                <a:lnTo>
                  <a:pt x="1136383" y="105943"/>
                </a:lnTo>
                <a:lnTo>
                  <a:pt x="1114323" y="116103"/>
                </a:lnTo>
                <a:lnTo>
                  <a:pt x="1098067" y="142773"/>
                </a:lnTo>
                <a:lnTo>
                  <a:pt x="1085723" y="180873"/>
                </a:lnTo>
                <a:lnTo>
                  <a:pt x="1075423" y="227863"/>
                </a:lnTo>
                <a:lnTo>
                  <a:pt x="1073505" y="234213"/>
                </a:lnTo>
                <a:lnTo>
                  <a:pt x="1071753" y="236753"/>
                </a:lnTo>
                <a:lnTo>
                  <a:pt x="1070406" y="234213"/>
                </a:lnTo>
                <a:lnTo>
                  <a:pt x="1069708" y="226593"/>
                </a:lnTo>
                <a:lnTo>
                  <a:pt x="1069543" y="220243"/>
                </a:lnTo>
                <a:lnTo>
                  <a:pt x="1069441" y="215163"/>
                </a:lnTo>
                <a:lnTo>
                  <a:pt x="1069314" y="199923"/>
                </a:lnTo>
                <a:lnTo>
                  <a:pt x="1069314" y="189763"/>
                </a:lnTo>
                <a:lnTo>
                  <a:pt x="1075194" y="149123"/>
                </a:lnTo>
                <a:lnTo>
                  <a:pt x="1069898" y="123723"/>
                </a:lnTo>
                <a:lnTo>
                  <a:pt x="1055878" y="113563"/>
                </a:lnTo>
                <a:lnTo>
                  <a:pt x="1035570" y="118643"/>
                </a:lnTo>
                <a:lnTo>
                  <a:pt x="1034224" y="183413"/>
                </a:lnTo>
                <a:lnTo>
                  <a:pt x="1021067" y="232943"/>
                </a:lnTo>
                <a:lnTo>
                  <a:pt x="999820" y="268503"/>
                </a:lnTo>
                <a:lnTo>
                  <a:pt x="974204" y="290093"/>
                </a:lnTo>
                <a:lnTo>
                  <a:pt x="947940" y="296443"/>
                </a:lnTo>
                <a:lnTo>
                  <a:pt x="937145" y="296443"/>
                </a:lnTo>
                <a:lnTo>
                  <a:pt x="927506" y="292633"/>
                </a:lnTo>
                <a:lnTo>
                  <a:pt x="919010" y="287553"/>
                </a:lnTo>
                <a:lnTo>
                  <a:pt x="911631" y="279933"/>
                </a:lnTo>
                <a:lnTo>
                  <a:pt x="944473" y="255803"/>
                </a:lnTo>
                <a:lnTo>
                  <a:pt x="945667" y="254533"/>
                </a:lnTo>
                <a:lnTo>
                  <a:pt x="967257" y="231673"/>
                </a:lnTo>
                <a:lnTo>
                  <a:pt x="980541" y="205003"/>
                </a:lnTo>
                <a:lnTo>
                  <a:pt x="984846" y="178333"/>
                </a:lnTo>
                <a:lnTo>
                  <a:pt x="980884" y="154203"/>
                </a:lnTo>
                <a:lnTo>
                  <a:pt x="978611" y="150393"/>
                </a:lnTo>
                <a:lnTo>
                  <a:pt x="969479" y="135153"/>
                </a:lnTo>
                <a:lnTo>
                  <a:pt x="951306" y="123723"/>
                </a:lnTo>
                <a:lnTo>
                  <a:pt x="945184" y="122770"/>
                </a:lnTo>
                <a:lnTo>
                  <a:pt x="945184" y="184683"/>
                </a:lnTo>
                <a:lnTo>
                  <a:pt x="941044" y="202463"/>
                </a:lnTo>
                <a:lnTo>
                  <a:pt x="931468" y="220243"/>
                </a:lnTo>
                <a:lnTo>
                  <a:pt x="916711" y="238023"/>
                </a:lnTo>
                <a:lnTo>
                  <a:pt x="897039" y="254533"/>
                </a:lnTo>
                <a:lnTo>
                  <a:pt x="890397" y="220243"/>
                </a:lnTo>
                <a:lnTo>
                  <a:pt x="893051" y="185953"/>
                </a:lnTo>
                <a:lnTo>
                  <a:pt x="904201" y="160553"/>
                </a:lnTo>
                <a:lnTo>
                  <a:pt x="923086" y="150393"/>
                </a:lnTo>
                <a:lnTo>
                  <a:pt x="933056" y="152933"/>
                </a:lnTo>
                <a:lnTo>
                  <a:pt x="940269" y="160553"/>
                </a:lnTo>
                <a:lnTo>
                  <a:pt x="944422" y="170713"/>
                </a:lnTo>
                <a:lnTo>
                  <a:pt x="945184" y="184683"/>
                </a:lnTo>
                <a:lnTo>
                  <a:pt x="945184" y="122770"/>
                </a:lnTo>
                <a:lnTo>
                  <a:pt x="893572" y="128803"/>
                </a:lnTo>
                <a:lnTo>
                  <a:pt x="853859" y="182143"/>
                </a:lnTo>
                <a:lnTo>
                  <a:pt x="848702" y="215163"/>
                </a:lnTo>
                <a:lnTo>
                  <a:pt x="849490" y="231673"/>
                </a:lnTo>
                <a:lnTo>
                  <a:pt x="851776" y="248183"/>
                </a:lnTo>
                <a:lnTo>
                  <a:pt x="855433" y="262153"/>
                </a:lnTo>
                <a:lnTo>
                  <a:pt x="860336" y="274853"/>
                </a:lnTo>
                <a:lnTo>
                  <a:pt x="847534" y="281203"/>
                </a:lnTo>
                <a:lnTo>
                  <a:pt x="835152" y="287553"/>
                </a:lnTo>
                <a:lnTo>
                  <a:pt x="811606" y="297713"/>
                </a:lnTo>
                <a:lnTo>
                  <a:pt x="810310" y="271043"/>
                </a:lnTo>
                <a:lnTo>
                  <a:pt x="809942" y="263423"/>
                </a:lnTo>
                <a:lnTo>
                  <a:pt x="807351" y="229133"/>
                </a:lnTo>
                <a:lnTo>
                  <a:pt x="801331" y="161823"/>
                </a:lnTo>
                <a:lnTo>
                  <a:pt x="784580" y="159283"/>
                </a:lnTo>
                <a:lnTo>
                  <a:pt x="773734" y="164363"/>
                </a:lnTo>
                <a:lnTo>
                  <a:pt x="767511" y="174523"/>
                </a:lnTo>
                <a:lnTo>
                  <a:pt x="758469" y="226593"/>
                </a:lnTo>
                <a:lnTo>
                  <a:pt x="748207" y="254533"/>
                </a:lnTo>
                <a:lnTo>
                  <a:pt x="735495" y="272313"/>
                </a:lnTo>
                <a:lnTo>
                  <a:pt x="722007" y="278663"/>
                </a:lnTo>
                <a:lnTo>
                  <a:pt x="712965" y="276123"/>
                </a:lnTo>
                <a:lnTo>
                  <a:pt x="706107" y="268503"/>
                </a:lnTo>
                <a:lnTo>
                  <a:pt x="701560" y="257073"/>
                </a:lnTo>
                <a:lnTo>
                  <a:pt x="699516" y="244373"/>
                </a:lnTo>
                <a:lnTo>
                  <a:pt x="702652" y="225323"/>
                </a:lnTo>
                <a:lnTo>
                  <a:pt x="703072" y="222783"/>
                </a:lnTo>
                <a:lnTo>
                  <a:pt x="708291" y="191033"/>
                </a:lnTo>
                <a:lnTo>
                  <a:pt x="735164" y="158013"/>
                </a:lnTo>
                <a:lnTo>
                  <a:pt x="769924" y="144043"/>
                </a:lnTo>
                <a:lnTo>
                  <a:pt x="802335" y="146583"/>
                </a:lnTo>
                <a:lnTo>
                  <a:pt x="802805" y="144043"/>
                </a:lnTo>
                <a:lnTo>
                  <a:pt x="804926" y="132613"/>
                </a:lnTo>
                <a:lnTo>
                  <a:pt x="800646" y="122453"/>
                </a:lnTo>
                <a:lnTo>
                  <a:pt x="788670" y="116103"/>
                </a:lnTo>
                <a:lnTo>
                  <a:pt x="768184" y="113563"/>
                </a:lnTo>
                <a:lnTo>
                  <a:pt x="739711" y="117373"/>
                </a:lnTo>
                <a:lnTo>
                  <a:pt x="714832" y="130073"/>
                </a:lnTo>
                <a:lnTo>
                  <a:pt x="693407" y="147853"/>
                </a:lnTo>
                <a:lnTo>
                  <a:pt x="675246" y="169443"/>
                </a:lnTo>
                <a:lnTo>
                  <a:pt x="663651" y="184683"/>
                </a:lnTo>
                <a:lnTo>
                  <a:pt x="650875" y="197383"/>
                </a:lnTo>
                <a:lnTo>
                  <a:pt x="636612" y="210083"/>
                </a:lnTo>
                <a:lnTo>
                  <a:pt x="620585" y="222783"/>
                </a:lnTo>
                <a:lnTo>
                  <a:pt x="621182" y="217703"/>
                </a:lnTo>
                <a:lnTo>
                  <a:pt x="621284" y="215163"/>
                </a:lnTo>
                <a:lnTo>
                  <a:pt x="621385" y="207543"/>
                </a:lnTo>
                <a:lnTo>
                  <a:pt x="615670" y="168173"/>
                </a:lnTo>
                <a:lnTo>
                  <a:pt x="608876" y="155473"/>
                </a:lnTo>
                <a:lnTo>
                  <a:pt x="600735" y="140233"/>
                </a:lnTo>
                <a:lnTo>
                  <a:pt x="579831" y="124993"/>
                </a:lnTo>
                <a:lnTo>
                  <a:pt x="556260" y="119913"/>
                </a:lnTo>
                <a:lnTo>
                  <a:pt x="538340" y="122453"/>
                </a:lnTo>
                <a:lnTo>
                  <a:pt x="523798" y="130073"/>
                </a:lnTo>
                <a:lnTo>
                  <a:pt x="512356" y="142773"/>
                </a:lnTo>
                <a:lnTo>
                  <a:pt x="503770" y="159283"/>
                </a:lnTo>
                <a:lnTo>
                  <a:pt x="501434" y="144043"/>
                </a:lnTo>
                <a:lnTo>
                  <a:pt x="497547" y="133883"/>
                </a:lnTo>
                <a:lnTo>
                  <a:pt x="491439" y="127533"/>
                </a:lnTo>
                <a:lnTo>
                  <a:pt x="482460" y="124993"/>
                </a:lnTo>
                <a:lnTo>
                  <a:pt x="476338" y="124993"/>
                </a:lnTo>
                <a:lnTo>
                  <a:pt x="468058" y="126263"/>
                </a:lnTo>
                <a:lnTo>
                  <a:pt x="458965" y="131343"/>
                </a:lnTo>
                <a:lnTo>
                  <a:pt x="461606" y="144043"/>
                </a:lnTo>
                <a:lnTo>
                  <a:pt x="463384" y="160553"/>
                </a:lnTo>
                <a:lnTo>
                  <a:pt x="464375" y="178333"/>
                </a:lnTo>
                <a:lnTo>
                  <a:pt x="464693" y="194843"/>
                </a:lnTo>
                <a:lnTo>
                  <a:pt x="461073" y="241833"/>
                </a:lnTo>
                <a:lnTo>
                  <a:pt x="451573" y="274853"/>
                </a:lnTo>
                <a:lnTo>
                  <a:pt x="438226" y="295173"/>
                </a:lnTo>
                <a:lnTo>
                  <a:pt x="423049" y="301523"/>
                </a:lnTo>
                <a:lnTo>
                  <a:pt x="408978" y="286283"/>
                </a:lnTo>
                <a:lnTo>
                  <a:pt x="407365" y="279933"/>
                </a:lnTo>
                <a:lnTo>
                  <a:pt x="400570" y="253263"/>
                </a:lnTo>
                <a:lnTo>
                  <a:pt x="396151" y="212623"/>
                </a:lnTo>
                <a:lnTo>
                  <a:pt x="394055" y="179603"/>
                </a:lnTo>
                <a:lnTo>
                  <a:pt x="391083" y="178333"/>
                </a:lnTo>
                <a:lnTo>
                  <a:pt x="387731" y="177063"/>
                </a:lnTo>
                <a:lnTo>
                  <a:pt x="382600" y="177063"/>
                </a:lnTo>
                <a:lnTo>
                  <a:pt x="369887" y="182143"/>
                </a:lnTo>
                <a:lnTo>
                  <a:pt x="362115" y="194843"/>
                </a:lnTo>
                <a:lnTo>
                  <a:pt x="357327" y="212623"/>
                </a:lnTo>
                <a:lnTo>
                  <a:pt x="353593" y="231673"/>
                </a:lnTo>
                <a:lnTo>
                  <a:pt x="347306" y="253263"/>
                </a:lnTo>
                <a:lnTo>
                  <a:pt x="337223" y="274853"/>
                </a:lnTo>
                <a:lnTo>
                  <a:pt x="323570" y="290093"/>
                </a:lnTo>
                <a:lnTo>
                  <a:pt x="306628" y="296443"/>
                </a:lnTo>
                <a:lnTo>
                  <a:pt x="296621" y="293903"/>
                </a:lnTo>
                <a:lnTo>
                  <a:pt x="288912" y="286283"/>
                </a:lnTo>
                <a:lnTo>
                  <a:pt x="283756" y="273583"/>
                </a:lnTo>
                <a:lnTo>
                  <a:pt x="281393" y="257073"/>
                </a:lnTo>
                <a:lnTo>
                  <a:pt x="287858" y="216433"/>
                </a:lnTo>
                <a:lnTo>
                  <a:pt x="309524" y="182143"/>
                </a:lnTo>
                <a:lnTo>
                  <a:pt x="344398" y="160553"/>
                </a:lnTo>
                <a:lnTo>
                  <a:pt x="390499" y="161823"/>
                </a:lnTo>
                <a:lnTo>
                  <a:pt x="390728" y="160553"/>
                </a:lnTo>
                <a:lnTo>
                  <a:pt x="393001" y="147853"/>
                </a:lnTo>
                <a:lnTo>
                  <a:pt x="387743" y="135153"/>
                </a:lnTo>
                <a:lnTo>
                  <a:pt x="375513" y="127533"/>
                </a:lnTo>
                <a:lnTo>
                  <a:pt x="357162" y="124993"/>
                </a:lnTo>
                <a:lnTo>
                  <a:pt x="321716" y="131343"/>
                </a:lnTo>
                <a:lnTo>
                  <a:pt x="290880" y="149123"/>
                </a:lnTo>
                <a:lnTo>
                  <a:pt x="266001" y="174523"/>
                </a:lnTo>
                <a:lnTo>
                  <a:pt x="248437" y="206273"/>
                </a:lnTo>
                <a:lnTo>
                  <a:pt x="231927" y="239293"/>
                </a:lnTo>
                <a:lnTo>
                  <a:pt x="208470" y="271043"/>
                </a:lnTo>
                <a:lnTo>
                  <a:pt x="176276" y="295173"/>
                </a:lnTo>
                <a:lnTo>
                  <a:pt x="133578" y="305333"/>
                </a:lnTo>
                <a:lnTo>
                  <a:pt x="101663" y="297713"/>
                </a:lnTo>
                <a:lnTo>
                  <a:pt x="76060" y="274853"/>
                </a:lnTo>
                <a:lnTo>
                  <a:pt x="59055" y="236753"/>
                </a:lnTo>
                <a:lnTo>
                  <a:pt x="52882" y="182143"/>
                </a:lnTo>
                <a:lnTo>
                  <a:pt x="60756" y="130073"/>
                </a:lnTo>
                <a:lnTo>
                  <a:pt x="81737" y="85623"/>
                </a:lnTo>
                <a:lnTo>
                  <a:pt x="111810" y="53873"/>
                </a:lnTo>
                <a:lnTo>
                  <a:pt x="147002" y="42443"/>
                </a:lnTo>
                <a:lnTo>
                  <a:pt x="167805" y="47523"/>
                </a:lnTo>
                <a:lnTo>
                  <a:pt x="180276" y="62763"/>
                </a:lnTo>
                <a:lnTo>
                  <a:pt x="185826" y="83083"/>
                </a:lnTo>
                <a:lnTo>
                  <a:pt x="185877" y="105943"/>
                </a:lnTo>
                <a:lnTo>
                  <a:pt x="200520" y="112293"/>
                </a:lnTo>
                <a:lnTo>
                  <a:pt x="215646" y="108483"/>
                </a:lnTo>
                <a:lnTo>
                  <a:pt x="227469" y="94513"/>
                </a:lnTo>
                <a:lnTo>
                  <a:pt x="232244" y="71653"/>
                </a:lnTo>
                <a:lnTo>
                  <a:pt x="228168" y="51333"/>
                </a:lnTo>
                <a:lnTo>
                  <a:pt x="222148" y="42443"/>
                </a:lnTo>
                <a:lnTo>
                  <a:pt x="214414" y="31013"/>
                </a:lnTo>
                <a:lnTo>
                  <a:pt x="188709" y="13233"/>
                </a:lnTo>
                <a:lnTo>
                  <a:pt x="148780" y="6883"/>
                </a:lnTo>
                <a:lnTo>
                  <a:pt x="110286" y="13233"/>
                </a:lnTo>
                <a:lnTo>
                  <a:pt x="75031" y="31013"/>
                </a:lnTo>
                <a:lnTo>
                  <a:pt x="44716" y="58953"/>
                </a:lnTo>
                <a:lnTo>
                  <a:pt x="20980" y="95783"/>
                </a:lnTo>
                <a:lnTo>
                  <a:pt x="5524" y="138963"/>
                </a:lnTo>
                <a:lnTo>
                  <a:pt x="0" y="188493"/>
                </a:lnTo>
                <a:lnTo>
                  <a:pt x="5867" y="243103"/>
                </a:lnTo>
                <a:lnTo>
                  <a:pt x="22517" y="287553"/>
                </a:lnTo>
                <a:lnTo>
                  <a:pt x="48501" y="320573"/>
                </a:lnTo>
                <a:lnTo>
                  <a:pt x="82384" y="339623"/>
                </a:lnTo>
                <a:lnTo>
                  <a:pt x="122732" y="347243"/>
                </a:lnTo>
                <a:lnTo>
                  <a:pt x="156121" y="342163"/>
                </a:lnTo>
                <a:lnTo>
                  <a:pt x="187553" y="328193"/>
                </a:lnTo>
                <a:lnTo>
                  <a:pt x="216027" y="305333"/>
                </a:lnTo>
                <a:lnTo>
                  <a:pt x="240525" y="273583"/>
                </a:lnTo>
                <a:lnTo>
                  <a:pt x="249643" y="300253"/>
                </a:lnTo>
                <a:lnTo>
                  <a:pt x="263969" y="319303"/>
                </a:lnTo>
                <a:lnTo>
                  <a:pt x="280873" y="329463"/>
                </a:lnTo>
                <a:lnTo>
                  <a:pt x="297764" y="333273"/>
                </a:lnTo>
                <a:lnTo>
                  <a:pt x="321462" y="329463"/>
                </a:lnTo>
                <a:lnTo>
                  <a:pt x="340855" y="318033"/>
                </a:lnTo>
                <a:lnTo>
                  <a:pt x="356069" y="301523"/>
                </a:lnTo>
                <a:lnTo>
                  <a:pt x="358686" y="296443"/>
                </a:lnTo>
                <a:lnTo>
                  <a:pt x="367220" y="279933"/>
                </a:lnTo>
                <a:lnTo>
                  <a:pt x="374611" y="301523"/>
                </a:lnTo>
                <a:lnTo>
                  <a:pt x="385419" y="318033"/>
                </a:lnTo>
                <a:lnTo>
                  <a:pt x="399846" y="329463"/>
                </a:lnTo>
                <a:lnTo>
                  <a:pt x="418122" y="333273"/>
                </a:lnTo>
                <a:lnTo>
                  <a:pt x="431571" y="332003"/>
                </a:lnTo>
                <a:lnTo>
                  <a:pt x="443509" y="326923"/>
                </a:lnTo>
                <a:lnTo>
                  <a:pt x="453999" y="318033"/>
                </a:lnTo>
                <a:lnTo>
                  <a:pt x="463105" y="307873"/>
                </a:lnTo>
                <a:lnTo>
                  <a:pt x="461048" y="362483"/>
                </a:lnTo>
                <a:lnTo>
                  <a:pt x="461683" y="413283"/>
                </a:lnTo>
                <a:lnTo>
                  <a:pt x="485609" y="465353"/>
                </a:lnTo>
                <a:lnTo>
                  <a:pt x="515416" y="466623"/>
                </a:lnTo>
                <a:lnTo>
                  <a:pt x="509358" y="441223"/>
                </a:lnTo>
                <a:lnTo>
                  <a:pt x="505472" y="408203"/>
                </a:lnTo>
                <a:lnTo>
                  <a:pt x="503389" y="371373"/>
                </a:lnTo>
                <a:lnTo>
                  <a:pt x="502856" y="339623"/>
                </a:lnTo>
                <a:lnTo>
                  <a:pt x="502945" y="330733"/>
                </a:lnTo>
                <a:lnTo>
                  <a:pt x="503986" y="307873"/>
                </a:lnTo>
                <a:lnTo>
                  <a:pt x="504278" y="301523"/>
                </a:lnTo>
                <a:lnTo>
                  <a:pt x="506666" y="249453"/>
                </a:lnTo>
                <a:lnTo>
                  <a:pt x="517309" y="194843"/>
                </a:lnTo>
                <a:lnTo>
                  <a:pt x="533171" y="165633"/>
                </a:lnTo>
                <a:lnTo>
                  <a:pt x="545376" y="159283"/>
                </a:lnTo>
                <a:lnTo>
                  <a:pt x="552704" y="155473"/>
                </a:lnTo>
                <a:lnTo>
                  <a:pt x="565353" y="160553"/>
                </a:lnTo>
                <a:lnTo>
                  <a:pt x="573570" y="171983"/>
                </a:lnTo>
                <a:lnTo>
                  <a:pt x="578015" y="189763"/>
                </a:lnTo>
                <a:lnTo>
                  <a:pt x="579259" y="207543"/>
                </a:lnTo>
                <a:lnTo>
                  <a:pt x="579323" y="210083"/>
                </a:lnTo>
                <a:lnTo>
                  <a:pt x="579081" y="220243"/>
                </a:lnTo>
                <a:lnTo>
                  <a:pt x="578192" y="231673"/>
                </a:lnTo>
                <a:lnTo>
                  <a:pt x="576592" y="243103"/>
                </a:lnTo>
                <a:lnTo>
                  <a:pt x="574205" y="255803"/>
                </a:lnTo>
                <a:lnTo>
                  <a:pt x="550214" y="271043"/>
                </a:lnTo>
                <a:lnTo>
                  <a:pt x="530720" y="285013"/>
                </a:lnTo>
                <a:lnTo>
                  <a:pt x="517639" y="300253"/>
                </a:lnTo>
                <a:lnTo>
                  <a:pt x="512851" y="315493"/>
                </a:lnTo>
                <a:lnTo>
                  <a:pt x="514997" y="325653"/>
                </a:lnTo>
                <a:lnTo>
                  <a:pt x="520534" y="330733"/>
                </a:lnTo>
                <a:lnTo>
                  <a:pt x="528154" y="333273"/>
                </a:lnTo>
                <a:lnTo>
                  <a:pt x="536511" y="333273"/>
                </a:lnTo>
                <a:lnTo>
                  <a:pt x="556869" y="329463"/>
                </a:lnTo>
                <a:lnTo>
                  <a:pt x="577367" y="314223"/>
                </a:lnTo>
                <a:lnTo>
                  <a:pt x="596239" y="291363"/>
                </a:lnTo>
                <a:lnTo>
                  <a:pt x="611695" y="259613"/>
                </a:lnTo>
                <a:lnTo>
                  <a:pt x="634441" y="244373"/>
                </a:lnTo>
                <a:lnTo>
                  <a:pt x="645731" y="235483"/>
                </a:lnTo>
                <a:lnTo>
                  <a:pt x="656894" y="225323"/>
                </a:lnTo>
                <a:lnTo>
                  <a:pt x="656310" y="230403"/>
                </a:lnTo>
                <a:lnTo>
                  <a:pt x="656209" y="232943"/>
                </a:lnTo>
                <a:lnTo>
                  <a:pt x="656107" y="240563"/>
                </a:lnTo>
                <a:lnTo>
                  <a:pt x="659930" y="272313"/>
                </a:lnTo>
                <a:lnTo>
                  <a:pt x="670852" y="296443"/>
                </a:lnTo>
                <a:lnTo>
                  <a:pt x="688073" y="311683"/>
                </a:lnTo>
                <a:lnTo>
                  <a:pt x="710755" y="318033"/>
                </a:lnTo>
                <a:lnTo>
                  <a:pt x="729259" y="314223"/>
                </a:lnTo>
                <a:lnTo>
                  <a:pt x="745413" y="304063"/>
                </a:lnTo>
                <a:lnTo>
                  <a:pt x="759244" y="290093"/>
                </a:lnTo>
                <a:lnTo>
                  <a:pt x="766152" y="278663"/>
                </a:lnTo>
                <a:lnTo>
                  <a:pt x="770750" y="271043"/>
                </a:lnTo>
                <a:lnTo>
                  <a:pt x="771359" y="283743"/>
                </a:lnTo>
                <a:lnTo>
                  <a:pt x="771766" y="293903"/>
                </a:lnTo>
                <a:lnTo>
                  <a:pt x="772147" y="306603"/>
                </a:lnTo>
                <a:lnTo>
                  <a:pt x="772337" y="315493"/>
                </a:lnTo>
                <a:lnTo>
                  <a:pt x="772337" y="345973"/>
                </a:lnTo>
                <a:lnTo>
                  <a:pt x="767283" y="405663"/>
                </a:lnTo>
                <a:lnTo>
                  <a:pt x="756221" y="442493"/>
                </a:lnTo>
                <a:lnTo>
                  <a:pt x="740829" y="460273"/>
                </a:lnTo>
                <a:lnTo>
                  <a:pt x="722795" y="465353"/>
                </a:lnTo>
                <a:lnTo>
                  <a:pt x="712635" y="462813"/>
                </a:lnTo>
                <a:lnTo>
                  <a:pt x="705294" y="456463"/>
                </a:lnTo>
                <a:lnTo>
                  <a:pt x="700824" y="446303"/>
                </a:lnTo>
                <a:lnTo>
                  <a:pt x="699325" y="434873"/>
                </a:lnTo>
                <a:lnTo>
                  <a:pt x="705065" y="404393"/>
                </a:lnTo>
                <a:lnTo>
                  <a:pt x="720737" y="381533"/>
                </a:lnTo>
                <a:lnTo>
                  <a:pt x="743940" y="362483"/>
                </a:lnTo>
                <a:lnTo>
                  <a:pt x="772337" y="345973"/>
                </a:lnTo>
                <a:lnTo>
                  <a:pt x="772337" y="315493"/>
                </a:lnTo>
                <a:lnTo>
                  <a:pt x="732193" y="334543"/>
                </a:lnTo>
                <a:lnTo>
                  <a:pt x="696036" y="358673"/>
                </a:lnTo>
                <a:lnTo>
                  <a:pt x="669912" y="390423"/>
                </a:lnTo>
                <a:lnTo>
                  <a:pt x="659853" y="434873"/>
                </a:lnTo>
                <a:lnTo>
                  <a:pt x="664451" y="460273"/>
                </a:lnTo>
                <a:lnTo>
                  <a:pt x="677113" y="479323"/>
                </a:lnTo>
                <a:lnTo>
                  <a:pt x="696137" y="493293"/>
                </a:lnTo>
                <a:lnTo>
                  <a:pt x="719836" y="497103"/>
                </a:lnTo>
                <a:lnTo>
                  <a:pt x="757910" y="489483"/>
                </a:lnTo>
                <a:lnTo>
                  <a:pt x="782866" y="465353"/>
                </a:lnTo>
                <a:lnTo>
                  <a:pt x="784186" y="464083"/>
                </a:lnTo>
                <a:lnTo>
                  <a:pt x="800633" y="427253"/>
                </a:lnTo>
                <a:lnTo>
                  <a:pt x="809244" y="381533"/>
                </a:lnTo>
                <a:lnTo>
                  <a:pt x="811085" y="345973"/>
                </a:lnTo>
                <a:lnTo>
                  <a:pt x="811999" y="328193"/>
                </a:lnTo>
                <a:lnTo>
                  <a:pt x="829157" y="320573"/>
                </a:lnTo>
                <a:lnTo>
                  <a:pt x="844816" y="314223"/>
                </a:lnTo>
                <a:lnTo>
                  <a:pt x="875131" y="298983"/>
                </a:lnTo>
                <a:lnTo>
                  <a:pt x="889533" y="314223"/>
                </a:lnTo>
                <a:lnTo>
                  <a:pt x="905573" y="324383"/>
                </a:lnTo>
                <a:lnTo>
                  <a:pt x="922426" y="330733"/>
                </a:lnTo>
                <a:lnTo>
                  <a:pt x="939266" y="333273"/>
                </a:lnTo>
                <a:lnTo>
                  <a:pt x="968883" y="328193"/>
                </a:lnTo>
                <a:lnTo>
                  <a:pt x="994981" y="315493"/>
                </a:lnTo>
                <a:lnTo>
                  <a:pt x="1013625" y="298983"/>
                </a:lnTo>
                <a:lnTo>
                  <a:pt x="1015060" y="297713"/>
                </a:lnTo>
                <a:lnTo>
                  <a:pt x="1016495" y="296443"/>
                </a:lnTo>
                <a:lnTo>
                  <a:pt x="1017930" y="295173"/>
                </a:lnTo>
                <a:lnTo>
                  <a:pt x="1038123" y="265963"/>
                </a:lnTo>
                <a:lnTo>
                  <a:pt x="1042428" y="290093"/>
                </a:lnTo>
                <a:lnTo>
                  <a:pt x="1048804" y="311683"/>
                </a:lnTo>
                <a:lnTo>
                  <a:pt x="1057744" y="326923"/>
                </a:lnTo>
                <a:lnTo>
                  <a:pt x="1069708" y="333273"/>
                </a:lnTo>
                <a:lnTo>
                  <a:pt x="1086878" y="314223"/>
                </a:lnTo>
                <a:lnTo>
                  <a:pt x="1099794" y="272313"/>
                </a:lnTo>
                <a:lnTo>
                  <a:pt x="1101102" y="265963"/>
                </a:lnTo>
                <a:lnTo>
                  <a:pt x="1107160" y="236753"/>
                </a:lnTo>
                <a:lnTo>
                  <a:pt x="1110589" y="220243"/>
                </a:lnTo>
                <a:lnTo>
                  <a:pt x="1121422" y="177063"/>
                </a:lnTo>
                <a:lnTo>
                  <a:pt x="1134414" y="159283"/>
                </a:lnTo>
                <a:lnTo>
                  <a:pt x="1142441" y="178333"/>
                </a:lnTo>
                <a:lnTo>
                  <a:pt x="1147000" y="225323"/>
                </a:lnTo>
                <a:lnTo>
                  <a:pt x="1152880" y="281203"/>
                </a:lnTo>
                <a:lnTo>
                  <a:pt x="1164907" y="328193"/>
                </a:lnTo>
                <a:lnTo>
                  <a:pt x="1187894" y="347243"/>
                </a:lnTo>
                <a:lnTo>
                  <a:pt x="1209802" y="329463"/>
                </a:lnTo>
                <a:lnTo>
                  <a:pt x="1225651" y="288823"/>
                </a:lnTo>
                <a:lnTo>
                  <a:pt x="1228191" y="278663"/>
                </a:lnTo>
                <a:lnTo>
                  <a:pt x="1237742" y="240563"/>
                </a:lnTo>
                <a:lnTo>
                  <a:pt x="1248333" y="198653"/>
                </a:lnTo>
                <a:lnTo>
                  <a:pt x="1259725" y="182143"/>
                </a:lnTo>
                <a:lnTo>
                  <a:pt x="1269187" y="205003"/>
                </a:lnTo>
                <a:lnTo>
                  <a:pt x="1279080" y="257073"/>
                </a:lnTo>
                <a:lnTo>
                  <a:pt x="1294930" y="309143"/>
                </a:lnTo>
                <a:lnTo>
                  <a:pt x="1322273" y="333273"/>
                </a:lnTo>
                <a:lnTo>
                  <a:pt x="1339621" y="328193"/>
                </a:lnTo>
                <a:lnTo>
                  <a:pt x="1356385" y="311683"/>
                </a:lnTo>
                <a:lnTo>
                  <a:pt x="1370495" y="286283"/>
                </a:lnTo>
                <a:lnTo>
                  <a:pt x="1371193" y="285013"/>
                </a:lnTo>
                <a:lnTo>
                  <a:pt x="1382661" y="248183"/>
                </a:lnTo>
                <a:lnTo>
                  <a:pt x="1389697" y="277393"/>
                </a:lnTo>
                <a:lnTo>
                  <a:pt x="1402245" y="305333"/>
                </a:lnTo>
                <a:lnTo>
                  <a:pt x="1420787" y="325653"/>
                </a:lnTo>
                <a:lnTo>
                  <a:pt x="1445806" y="333273"/>
                </a:lnTo>
                <a:lnTo>
                  <a:pt x="1461795" y="329463"/>
                </a:lnTo>
                <a:lnTo>
                  <a:pt x="1476540" y="318033"/>
                </a:lnTo>
                <a:lnTo>
                  <a:pt x="1489862" y="301523"/>
                </a:lnTo>
                <a:lnTo>
                  <a:pt x="1493545" y="295173"/>
                </a:lnTo>
                <a:lnTo>
                  <a:pt x="1501635" y="281203"/>
                </a:lnTo>
                <a:lnTo>
                  <a:pt x="1505648" y="301523"/>
                </a:lnTo>
                <a:lnTo>
                  <a:pt x="1511681" y="318033"/>
                </a:lnTo>
                <a:lnTo>
                  <a:pt x="1520050" y="329463"/>
                </a:lnTo>
                <a:lnTo>
                  <a:pt x="1531048" y="333273"/>
                </a:lnTo>
                <a:lnTo>
                  <a:pt x="1552460" y="315493"/>
                </a:lnTo>
                <a:lnTo>
                  <a:pt x="1563966" y="281203"/>
                </a:lnTo>
                <a:lnTo>
                  <a:pt x="1566964" y="272313"/>
                </a:lnTo>
                <a:lnTo>
                  <a:pt x="1570596" y="255803"/>
                </a:lnTo>
                <a:lnTo>
                  <a:pt x="1578432" y="220243"/>
                </a:lnTo>
                <a:lnTo>
                  <a:pt x="1590751" y="178333"/>
                </a:lnTo>
                <a:lnTo>
                  <a:pt x="1607807" y="159283"/>
                </a:lnTo>
                <a:lnTo>
                  <a:pt x="1620634" y="178333"/>
                </a:lnTo>
                <a:lnTo>
                  <a:pt x="1641449" y="272313"/>
                </a:lnTo>
                <a:lnTo>
                  <a:pt x="1659826" y="315493"/>
                </a:lnTo>
                <a:lnTo>
                  <a:pt x="1690420" y="333273"/>
                </a:lnTo>
                <a:lnTo>
                  <a:pt x="1710550" y="328193"/>
                </a:lnTo>
                <a:lnTo>
                  <a:pt x="1725549" y="315493"/>
                </a:lnTo>
                <a:lnTo>
                  <a:pt x="1736407" y="297713"/>
                </a:lnTo>
                <a:lnTo>
                  <a:pt x="1737702" y="293903"/>
                </a:lnTo>
                <a:lnTo>
                  <a:pt x="1744167" y="274853"/>
                </a:lnTo>
                <a:lnTo>
                  <a:pt x="1754200" y="304063"/>
                </a:lnTo>
                <a:lnTo>
                  <a:pt x="1765947" y="321843"/>
                </a:lnTo>
                <a:lnTo>
                  <a:pt x="1778419" y="330733"/>
                </a:lnTo>
                <a:lnTo>
                  <a:pt x="1790674" y="333273"/>
                </a:lnTo>
                <a:lnTo>
                  <a:pt x="1797710" y="332003"/>
                </a:lnTo>
                <a:lnTo>
                  <a:pt x="1804327" y="329463"/>
                </a:lnTo>
                <a:lnTo>
                  <a:pt x="1810931" y="325653"/>
                </a:lnTo>
                <a:lnTo>
                  <a:pt x="1817966" y="318033"/>
                </a:lnTo>
                <a:close/>
              </a:path>
              <a:path w="2237105" h="497205">
                <a:moveTo>
                  <a:pt x="2236609" y="210578"/>
                </a:moveTo>
                <a:lnTo>
                  <a:pt x="2236444" y="209194"/>
                </a:lnTo>
                <a:lnTo>
                  <a:pt x="2236444" y="207035"/>
                </a:lnTo>
                <a:lnTo>
                  <a:pt x="2231148" y="167449"/>
                </a:lnTo>
                <a:lnTo>
                  <a:pt x="2217458" y="131165"/>
                </a:lnTo>
                <a:lnTo>
                  <a:pt x="2196363" y="98272"/>
                </a:lnTo>
                <a:lnTo>
                  <a:pt x="2168880" y="68872"/>
                </a:lnTo>
                <a:lnTo>
                  <a:pt x="2118957" y="31800"/>
                </a:lnTo>
                <a:lnTo>
                  <a:pt x="2063356" y="3733"/>
                </a:lnTo>
                <a:lnTo>
                  <a:pt x="2054161" y="0"/>
                </a:lnTo>
                <a:lnTo>
                  <a:pt x="2027732" y="23507"/>
                </a:lnTo>
                <a:lnTo>
                  <a:pt x="1991982" y="46824"/>
                </a:lnTo>
                <a:lnTo>
                  <a:pt x="1951812" y="71551"/>
                </a:lnTo>
                <a:lnTo>
                  <a:pt x="1912073" y="99237"/>
                </a:lnTo>
                <a:lnTo>
                  <a:pt x="1877656" y="131470"/>
                </a:lnTo>
                <a:lnTo>
                  <a:pt x="1853425" y="169824"/>
                </a:lnTo>
                <a:lnTo>
                  <a:pt x="1844268" y="215887"/>
                </a:lnTo>
                <a:lnTo>
                  <a:pt x="1849475" y="249504"/>
                </a:lnTo>
                <a:lnTo>
                  <a:pt x="1886902" y="304888"/>
                </a:lnTo>
                <a:lnTo>
                  <a:pt x="1934870" y="327748"/>
                </a:lnTo>
                <a:lnTo>
                  <a:pt x="1953501" y="329780"/>
                </a:lnTo>
                <a:lnTo>
                  <a:pt x="1972170" y="328498"/>
                </a:lnTo>
                <a:lnTo>
                  <a:pt x="2021166" y="308673"/>
                </a:lnTo>
                <a:lnTo>
                  <a:pt x="2077872" y="243065"/>
                </a:lnTo>
                <a:lnTo>
                  <a:pt x="2105177" y="199263"/>
                </a:lnTo>
                <a:lnTo>
                  <a:pt x="2134539" y="165341"/>
                </a:lnTo>
                <a:lnTo>
                  <a:pt x="2172335" y="151726"/>
                </a:lnTo>
                <a:lnTo>
                  <a:pt x="2204593" y="158013"/>
                </a:lnTo>
                <a:lnTo>
                  <a:pt x="2223389" y="173393"/>
                </a:lnTo>
                <a:lnTo>
                  <a:pt x="2232736" y="192659"/>
                </a:lnTo>
                <a:lnTo>
                  <a:pt x="2236609" y="210578"/>
                </a:lnTo>
                <a:close/>
              </a:path>
            </a:pathLst>
          </a:custGeom>
          <a:solidFill>
            <a:srgbClr val="0075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61544" y="0"/>
            <a:ext cx="12030710" cy="6858000"/>
            <a:chOff x="161544" y="0"/>
            <a:chExt cx="12030710" cy="6858000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303520" y="0"/>
              <a:ext cx="6888480" cy="68579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544" y="0"/>
              <a:ext cx="11091672" cy="685799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2074" y="2735326"/>
            <a:ext cx="6282690" cy="120250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745"/>
              </a:spcBef>
            </a:pPr>
            <a:r>
              <a:rPr lang="en-IN" sz="5400" spc="-229" dirty="0"/>
              <a:t>YouthHub Pillar 1 </a:t>
            </a:r>
            <a:endParaRPr sz="5400" dirty="0"/>
          </a:p>
          <a:p>
            <a:pPr marL="48260">
              <a:lnSpc>
                <a:spcPct val="100000"/>
              </a:lnSpc>
              <a:spcBef>
                <a:spcPts val="415"/>
              </a:spcBef>
            </a:pPr>
            <a:r>
              <a:rPr lang="en-IN" sz="2000" spc="-185" dirty="0"/>
              <a:t>June </a:t>
            </a:r>
            <a:r>
              <a:rPr sz="2000" spc="-210" dirty="0"/>
              <a:t> </a:t>
            </a:r>
            <a:r>
              <a:rPr sz="2000" spc="10" dirty="0"/>
              <a:t>202</a:t>
            </a:r>
            <a:r>
              <a:rPr lang="en-IN" sz="2000" spc="10" dirty="0"/>
              <a:t>3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415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6457" y="0"/>
              <a:ext cx="10305542" cy="68579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705843" y="367284"/>
              <a:ext cx="276225" cy="227329"/>
            </a:xfrm>
            <a:custGeom>
              <a:avLst/>
              <a:gdLst/>
              <a:ahLst/>
              <a:cxnLst/>
              <a:rect l="l" t="t" r="r" b="b"/>
              <a:pathLst>
                <a:path w="276225" h="227329">
                  <a:moveTo>
                    <a:pt x="206882" y="0"/>
                  </a:moveTo>
                  <a:lnTo>
                    <a:pt x="174115" y="9665"/>
                  </a:lnTo>
                  <a:lnTo>
                    <a:pt x="147530" y="34832"/>
                  </a:lnTo>
                  <a:lnTo>
                    <a:pt x="123828" y="69759"/>
                  </a:lnTo>
                  <a:lnTo>
                    <a:pt x="99711" y="108703"/>
                  </a:lnTo>
                  <a:lnTo>
                    <a:pt x="71881" y="145923"/>
                  </a:lnTo>
                  <a:lnTo>
                    <a:pt x="64775" y="169177"/>
                  </a:lnTo>
                  <a:lnTo>
                    <a:pt x="49133" y="189087"/>
                  </a:lnTo>
                  <a:lnTo>
                    <a:pt x="26894" y="204019"/>
                  </a:lnTo>
                  <a:lnTo>
                    <a:pt x="0" y="212343"/>
                  </a:lnTo>
                  <a:lnTo>
                    <a:pt x="8669" y="218396"/>
                  </a:lnTo>
                  <a:lnTo>
                    <a:pt x="21066" y="223043"/>
                  </a:lnTo>
                  <a:lnTo>
                    <a:pt x="36486" y="226024"/>
                  </a:lnTo>
                  <a:lnTo>
                    <a:pt x="54228" y="227075"/>
                  </a:lnTo>
                  <a:lnTo>
                    <a:pt x="89733" y="224549"/>
                  </a:lnTo>
                  <a:lnTo>
                    <a:pt x="125475" y="216773"/>
                  </a:lnTo>
                  <a:lnTo>
                    <a:pt x="157884" y="203448"/>
                  </a:lnTo>
                  <a:lnTo>
                    <a:pt x="183387" y="184276"/>
                  </a:lnTo>
                  <a:lnTo>
                    <a:pt x="157430" y="180717"/>
                  </a:lnTo>
                  <a:lnTo>
                    <a:pt x="137366" y="168846"/>
                  </a:lnTo>
                  <a:lnTo>
                    <a:pt x="124184" y="150308"/>
                  </a:lnTo>
                  <a:lnTo>
                    <a:pt x="118872" y="126745"/>
                  </a:lnTo>
                  <a:lnTo>
                    <a:pt x="132845" y="140964"/>
                  </a:lnTo>
                  <a:lnTo>
                    <a:pt x="148367" y="150574"/>
                  </a:lnTo>
                  <a:lnTo>
                    <a:pt x="165270" y="156017"/>
                  </a:lnTo>
                  <a:lnTo>
                    <a:pt x="183387" y="157733"/>
                  </a:lnTo>
                  <a:lnTo>
                    <a:pt x="219533" y="150258"/>
                  </a:lnTo>
                  <a:lnTo>
                    <a:pt x="248904" y="129936"/>
                  </a:lnTo>
                  <a:lnTo>
                    <a:pt x="268630" y="99923"/>
                  </a:lnTo>
                  <a:lnTo>
                    <a:pt x="275844" y="63373"/>
                  </a:lnTo>
                  <a:lnTo>
                    <a:pt x="272087" y="44148"/>
                  </a:lnTo>
                  <a:lnTo>
                    <a:pt x="262270" y="23399"/>
                  </a:lnTo>
                  <a:lnTo>
                    <a:pt x="242000" y="6794"/>
                  </a:lnTo>
                  <a:lnTo>
                    <a:pt x="206882" y="0"/>
                  </a:lnTo>
                  <a:close/>
                </a:path>
              </a:pathLst>
            </a:custGeom>
            <a:solidFill>
              <a:srgbClr val="12AB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562588" y="205740"/>
              <a:ext cx="419100" cy="354330"/>
            </a:xfrm>
            <a:custGeom>
              <a:avLst/>
              <a:gdLst/>
              <a:ahLst/>
              <a:cxnLst/>
              <a:rect l="l" t="t" r="r" b="b"/>
              <a:pathLst>
                <a:path w="419100" h="354330">
                  <a:moveTo>
                    <a:pt x="224154" y="0"/>
                  </a:moveTo>
                  <a:lnTo>
                    <a:pt x="200229" y="22070"/>
                  </a:lnTo>
                  <a:lnTo>
                    <a:pt x="168128" y="43878"/>
                  </a:lnTo>
                  <a:lnTo>
                    <a:pt x="131353" y="66544"/>
                  </a:lnTo>
                  <a:lnTo>
                    <a:pt x="93408" y="91186"/>
                  </a:lnTo>
                  <a:lnTo>
                    <a:pt x="57797" y="118923"/>
                  </a:lnTo>
                  <a:lnTo>
                    <a:pt x="28023" y="150876"/>
                  </a:lnTo>
                  <a:lnTo>
                    <a:pt x="7589" y="188162"/>
                  </a:lnTo>
                  <a:lnTo>
                    <a:pt x="0" y="231901"/>
                  </a:lnTo>
                  <a:lnTo>
                    <a:pt x="5536" y="268354"/>
                  </a:lnTo>
                  <a:lnTo>
                    <a:pt x="45755" y="328021"/>
                  </a:lnTo>
                  <a:lnTo>
                    <a:pt x="97462" y="352139"/>
                  </a:lnTo>
                  <a:lnTo>
                    <a:pt x="117236" y="354234"/>
                  </a:lnTo>
                  <a:lnTo>
                    <a:pt x="137034" y="352758"/>
                  </a:lnTo>
                  <a:lnTo>
                    <a:pt x="173583" y="341018"/>
                  </a:lnTo>
                  <a:lnTo>
                    <a:pt x="215391" y="308228"/>
                  </a:lnTo>
                  <a:lnTo>
                    <a:pt x="243208" y="271124"/>
                  </a:lnTo>
                  <a:lnTo>
                    <a:pt x="267293" y="232343"/>
                  </a:lnTo>
                  <a:lnTo>
                    <a:pt x="290958" y="197586"/>
                  </a:lnTo>
                  <a:lnTo>
                    <a:pt x="317512" y="172552"/>
                  </a:lnTo>
                  <a:lnTo>
                    <a:pt x="350265" y="162940"/>
                  </a:lnTo>
                  <a:lnTo>
                    <a:pt x="407143" y="162940"/>
                  </a:lnTo>
                  <a:lnTo>
                    <a:pt x="399129" y="141763"/>
                  </a:lnTo>
                  <a:lnTo>
                    <a:pt x="376451" y="106425"/>
                  </a:lnTo>
                  <a:lnTo>
                    <a:pt x="347344" y="74802"/>
                  </a:lnTo>
                  <a:lnTo>
                    <a:pt x="294179" y="34671"/>
                  </a:lnTo>
                  <a:lnTo>
                    <a:pt x="234441" y="4444"/>
                  </a:lnTo>
                  <a:lnTo>
                    <a:pt x="231520" y="2920"/>
                  </a:lnTo>
                  <a:lnTo>
                    <a:pt x="228600" y="1524"/>
                  </a:lnTo>
                  <a:lnTo>
                    <a:pt x="224154" y="0"/>
                  </a:lnTo>
                  <a:close/>
                </a:path>
                <a:path w="419100" h="354330">
                  <a:moveTo>
                    <a:pt x="407143" y="162940"/>
                  </a:moveTo>
                  <a:lnTo>
                    <a:pt x="350265" y="162940"/>
                  </a:lnTo>
                  <a:lnTo>
                    <a:pt x="385310" y="169695"/>
                  </a:lnTo>
                  <a:lnTo>
                    <a:pt x="405542" y="186213"/>
                  </a:lnTo>
                  <a:lnTo>
                    <a:pt x="415345" y="206875"/>
                  </a:lnTo>
                  <a:lnTo>
                    <a:pt x="419100" y="226059"/>
                  </a:lnTo>
                  <a:lnTo>
                    <a:pt x="419100" y="223011"/>
                  </a:lnTo>
                  <a:lnTo>
                    <a:pt x="413853" y="180673"/>
                  </a:lnTo>
                  <a:lnTo>
                    <a:pt x="407143" y="162940"/>
                  </a:lnTo>
                  <a:close/>
                </a:path>
              </a:pathLst>
            </a:custGeom>
            <a:solidFill>
              <a:srgbClr val="006F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91795" y="1546225"/>
            <a:ext cx="11097895" cy="51352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b="1" spc="-75" dirty="0">
                <a:solidFill>
                  <a:srgbClr val="12ABDB"/>
                </a:solidFill>
                <a:latin typeface="Arial" panose="020B0604020202020204"/>
                <a:cs typeface="Arial" panose="020B0604020202020204"/>
              </a:rPr>
              <a:t>OBJECTIVE</a:t>
            </a:r>
            <a:endParaRPr sz="1800" b="1" spc="-114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610"/>
              </a:spcBef>
            </a:pPr>
            <a:r>
              <a:rPr sz="18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800" b="1" spc="-20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800" b="1" spc="-8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800" b="1" spc="-1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800" b="1" spc="-9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800" b="1" spc="-2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8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8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IN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recommendation </a:t>
            </a:r>
            <a:r>
              <a:rPr lang="en-IN" sz="1800" b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engine . which </a:t>
            </a:r>
            <a:r>
              <a:rPr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match Job seeker profiles</a:t>
            </a:r>
            <a:r>
              <a:rPr lang="en-IN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and various job descriptions</a:t>
            </a:r>
            <a:r>
              <a:rPr lang="en-IN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, then</a:t>
            </a:r>
            <a:r>
              <a:rPr sz="18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IN" sz="18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ompute the similarity score and </a:t>
            </a:r>
            <a:r>
              <a:rPr lang="en-IN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give the user with </a:t>
            </a:r>
            <a:r>
              <a:rPr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the best-matched job based on the recommendation process.</a:t>
            </a:r>
            <a:endParaRPr b="1" spc="-30" dirty="0">
              <a:solidFill>
                <a:srgbClr val="FFFFFF"/>
              </a:solidFill>
              <a:latin typeface="Arial" panose="020B0604020202020204"/>
              <a:cs typeface="Arial" panose="020B0604020202020204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610"/>
              </a:spcBef>
            </a:pPr>
            <a:r>
              <a:rPr lang="en-IN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Entity extract from the user resume using OCR techniques which is used for make a standard resume for the user. </a:t>
            </a:r>
            <a:endParaRPr b="1" spc="-3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610"/>
              </a:spcBef>
            </a:pPr>
            <a:r>
              <a:rPr sz="2000" b="1" spc="-130" dirty="0">
                <a:solidFill>
                  <a:srgbClr val="12ABDB"/>
                </a:solidFill>
                <a:latin typeface="Arial" panose="020B0604020202020204"/>
                <a:cs typeface="Arial" panose="020B0604020202020204"/>
              </a:rPr>
              <a:t>KEY</a:t>
            </a:r>
            <a:r>
              <a:rPr sz="2000" b="1" spc="-105" dirty="0">
                <a:solidFill>
                  <a:srgbClr val="12ABDB"/>
                </a:solidFill>
                <a:latin typeface="Arial" panose="020B0604020202020204"/>
                <a:cs typeface="Arial" panose="020B0604020202020204"/>
              </a:rPr>
              <a:t> CHA</a:t>
            </a:r>
            <a:r>
              <a:rPr sz="2000" b="1" spc="-100" dirty="0">
                <a:solidFill>
                  <a:srgbClr val="12ABDB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-90" dirty="0">
                <a:solidFill>
                  <a:srgbClr val="12ABDB"/>
                </a:solidFill>
                <a:latin typeface="Arial" panose="020B0604020202020204"/>
                <a:cs typeface="Arial" panose="020B0604020202020204"/>
              </a:rPr>
              <a:t>LE</a:t>
            </a:r>
            <a:r>
              <a:rPr sz="2000" b="1" spc="-114" dirty="0">
                <a:solidFill>
                  <a:srgbClr val="12ABDB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-200" dirty="0">
                <a:solidFill>
                  <a:srgbClr val="12ABDB"/>
                </a:solidFill>
                <a:latin typeface="Arial" panose="020B0604020202020204"/>
                <a:cs typeface="Arial" panose="020B0604020202020204"/>
              </a:rPr>
              <a:t>GES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12ABDB"/>
              </a:buClr>
              <a:buFont typeface="Wingdings" panose="05000000000000000000"/>
              <a:buChar char=""/>
              <a:tabLst>
                <a:tab pos="286385" algn="l"/>
                <a:tab pos="287020" algn="l"/>
              </a:tabLst>
            </a:pPr>
            <a:r>
              <a:rPr lang="en-IN" sz="1800" b="1" spc="-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Fragmented Job Listings:It can be time-consuming and ineffective for job seekers to search for jobs on many different websites.</a:t>
            </a:r>
            <a:endParaRPr lang="en-IN" sz="1800" b="1" spc="-4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12ABDB"/>
              </a:buClr>
              <a:buFont typeface="Wingdings" panose="05000000000000000000"/>
              <a:buChar char=""/>
              <a:tabLst>
                <a:tab pos="286385" algn="l"/>
                <a:tab pos="287020" algn="l"/>
              </a:tabLst>
            </a:pPr>
            <a:r>
              <a:rPr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Duplicate Listings</a:t>
            </a:r>
            <a:r>
              <a:rPr lang="en-IN"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Job seekers may come across the same job multiple times, creating confusion and redundancy in their search process.</a:t>
            </a:r>
            <a:endParaRPr sz="1800" b="1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12ABDB"/>
              </a:buClr>
              <a:buFont typeface="Wingdings" panose="05000000000000000000"/>
              <a:buChar char=""/>
              <a:tabLst>
                <a:tab pos="286385" algn="l"/>
                <a:tab pos="287020" algn="l"/>
              </a:tabLst>
            </a:pPr>
            <a:r>
              <a:rPr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 Search Capabilities:Each employment website may have its own search capabilities and filters, which may or may not correspond to job seekers' individual criteria and preferences. This may limit </a:t>
            </a:r>
            <a:r>
              <a:rPr lang="en-IN"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ability to successfully refine search results and identify the most relevant job offers.</a:t>
            </a:r>
            <a:endParaRPr sz="1800" b="1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12ABDB"/>
              </a:buClr>
              <a:buFont typeface="Wingdings" panose="05000000000000000000"/>
              <a:buChar char=""/>
              <a:tabLst>
                <a:tab pos="286385" algn="l"/>
                <a:tab pos="287020" algn="l"/>
              </a:tabLst>
            </a:pPr>
            <a:r>
              <a:rPr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Missed Opportunities: With numerous job websites and platforms available, it is possible for job seekers to miss out on relevant job opportunities if they are not actively monitoring all the sources.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774" y="6557991"/>
            <a:ext cx="11447145" cy="1327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ts val="950"/>
              </a:lnSpc>
              <a:spcBef>
                <a:spcPts val="90"/>
              </a:spcBef>
              <a:tabLst>
                <a:tab pos="11388090" algn="l"/>
              </a:tabLst>
            </a:pPr>
            <a:r>
              <a:rPr sz="1050" b="1" spc="-44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Knowledge</a:t>
            </a:r>
            <a:r>
              <a:rPr sz="1050" b="1" spc="-22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60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Insights</a:t>
            </a:r>
            <a:r>
              <a:rPr sz="1050" b="1" spc="-30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75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1050" b="1" spc="-44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75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(KIS) </a:t>
            </a:r>
            <a:r>
              <a:rPr sz="1050" b="1" spc="-7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2.0r</a:t>
            </a:r>
            <a:r>
              <a:rPr sz="1050" b="1" spc="-44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15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sz="1050" b="1" spc="-82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44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February</a:t>
            </a:r>
            <a:r>
              <a:rPr sz="1050" b="1" spc="-52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7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2022 </a:t>
            </a:r>
            <a:r>
              <a:rPr sz="1050" b="1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050" b="1" spc="108277" baseline="20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37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050" b="1" spc="-555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Company</a:t>
            </a:r>
            <a:r>
              <a:rPr sz="1050" b="1" spc="-60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30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Confidential</a:t>
            </a:r>
            <a:r>
              <a:rPr sz="1050" b="1" spc="-44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75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©</a:t>
            </a:r>
            <a:r>
              <a:rPr sz="1050" b="1" spc="-44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52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Capgemini</a:t>
            </a:r>
            <a:r>
              <a:rPr sz="1050" b="1" spc="-60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2022.</a:t>
            </a:r>
            <a:r>
              <a:rPr sz="1050" b="1" spc="-52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30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1050" b="1" spc="-120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37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rights</a:t>
            </a:r>
            <a:r>
              <a:rPr sz="1050" b="1" spc="-52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44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reserved</a:t>
            </a:r>
            <a:r>
              <a:rPr sz="1050" b="1" spc="-15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15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|</a:t>
            </a:r>
            <a:endParaRPr sz="1050" baseline="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392074" y="6545291"/>
            <a:ext cx="2158365" cy="1250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30" dirty="0"/>
              <a:t>Knowledge</a:t>
            </a:r>
            <a:r>
              <a:rPr spc="-20" dirty="0"/>
              <a:t> </a:t>
            </a:r>
            <a:r>
              <a:rPr spc="-40" dirty="0"/>
              <a:t>Insights</a:t>
            </a:r>
            <a:r>
              <a:rPr spc="-20" dirty="0"/>
              <a:t> </a:t>
            </a:r>
            <a:r>
              <a:rPr spc="-50" dirty="0"/>
              <a:t>Services</a:t>
            </a:r>
            <a:r>
              <a:rPr spc="-30" dirty="0"/>
              <a:t> </a:t>
            </a:r>
            <a:r>
              <a:rPr spc="-50" dirty="0"/>
              <a:t>(KIS)</a:t>
            </a:r>
            <a:r>
              <a:rPr spc="-45" dirty="0"/>
              <a:t> </a:t>
            </a:r>
            <a:r>
              <a:rPr spc="-5" dirty="0"/>
              <a:t>2.0r</a:t>
            </a:r>
            <a:r>
              <a:rPr spc="-30" dirty="0"/>
              <a:t> </a:t>
            </a:r>
            <a:r>
              <a:rPr spc="10" dirty="0"/>
              <a:t>|</a:t>
            </a:r>
            <a:r>
              <a:rPr spc="-60" dirty="0"/>
              <a:t> </a:t>
            </a:r>
            <a:r>
              <a:rPr spc="-30" dirty="0"/>
              <a:t>February</a:t>
            </a:r>
            <a:r>
              <a:rPr spc="-35" dirty="0"/>
              <a:t> </a:t>
            </a:r>
            <a:r>
              <a:rPr spc="5" dirty="0"/>
              <a:t>2022</a:t>
            </a:r>
            <a:endParaRPr spc="5" dirty="0"/>
          </a:p>
        </p:txBody>
      </p:sp>
      <p:sp>
        <p:nvSpPr>
          <p:cNvPr id="12" name="object 12"/>
          <p:cNvSpPr txBox="1"/>
          <p:nvPr/>
        </p:nvSpPr>
        <p:spPr>
          <a:xfrm>
            <a:off x="9144381" y="6558213"/>
            <a:ext cx="2592070" cy="14033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50" b="1" spc="-60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Company </a:t>
            </a:r>
            <a:r>
              <a:rPr sz="1050" b="1" spc="-30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Confidential</a:t>
            </a:r>
            <a:r>
              <a:rPr sz="1050" b="1" spc="-37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75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©</a:t>
            </a:r>
            <a:r>
              <a:rPr sz="1050" b="1" spc="-44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52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Capgemini </a:t>
            </a:r>
            <a:r>
              <a:rPr sz="1050" b="1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2022.</a:t>
            </a:r>
            <a:r>
              <a:rPr sz="1050" b="1" spc="-52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30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1050" b="1" spc="-112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37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rights</a:t>
            </a:r>
            <a:r>
              <a:rPr sz="1050" b="1" spc="-52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44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reserved</a:t>
            </a:r>
            <a:r>
              <a:rPr sz="1050" b="1" spc="-7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15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sz="1050" b="1" spc="97" baseline="400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  <a:t> </a:t>
            </a:r>
            <a:fld id="{81D60167-4931-47E6-BA6A-407CBD079E47}" type="slidenum">
              <a:rPr sz="800" b="1" spc="10" dirty="0">
                <a:solidFill>
                  <a:srgbClr val="A6A6A6"/>
                </a:solidFill>
                <a:latin typeface="Arial" panose="020B0604020202020204"/>
                <a:cs typeface="Arial" panose="020B0604020202020204"/>
              </a:rPr>
            </a:fld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92074" y="336295"/>
            <a:ext cx="9174480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spc="-185" dirty="0"/>
              <a:t>BE</a:t>
            </a:r>
            <a:r>
              <a:rPr spc="-160" dirty="0"/>
              <a:t>F</a:t>
            </a:r>
            <a:r>
              <a:rPr spc="-140" dirty="0"/>
              <a:t>ORE</a:t>
            </a:r>
            <a:r>
              <a:rPr spc="-135" dirty="0"/>
              <a:t> </a:t>
            </a:r>
            <a:r>
              <a:rPr spc="-110" dirty="0"/>
              <a:t>WE</a:t>
            </a:r>
            <a:r>
              <a:rPr spc="-135" dirty="0"/>
              <a:t> </a:t>
            </a:r>
            <a:r>
              <a:rPr spc="-130" dirty="0"/>
              <a:t>DEEP</a:t>
            </a:r>
            <a:r>
              <a:rPr spc="-120" dirty="0"/>
              <a:t> </a:t>
            </a:r>
            <a:r>
              <a:rPr spc="25" dirty="0"/>
              <a:t>DIV</a:t>
            </a:r>
            <a:r>
              <a:rPr spc="-210" dirty="0"/>
              <a:t>E</a:t>
            </a:r>
            <a:r>
              <a:rPr spc="-125" dirty="0"/>
              <a:t> </a:t>
            </a:r>
            <a:r>
              <a:rPr spc="5" dirty="0"/>
              <a:t>INTO</a:t>
            </a:r>
            <a:r>
              <a:rPr spc="-130" dirty="0"/>
              <a:t> </a:t>
            </a:r>
            <a:r>
              <a:rPr spc="-140" dirty="0"/>
              <a:t>SOL</a:t>
            </a:r>
            <a:r>
              <a:rPr spc="-145" dirty="0"/>
              <a:t>U</a:t>
            </a:r>
            <a:r>
              <a:rPr dirty="0"/>
              <a:t>TIO</a:t>
            </a:r>
            <a:r>
              <a:rPr spc="10" dirty="0"/>
              <a:t>N</a:t>
            </a:r>
            <a:r>
              <a:rPr spc="-175" dirty="0"/>
              <a:t>:</a:t>
            </a:r>
            <a:r>
              <a:rPr spc="-170" dirty="0"/>
              <a:t> </a:t>
            </a:r>
            <a:r>
              <a:rPr spc="-65" dirty="0"/>
              <a:t>F</a:t>
            </a:r>
            <a:r>
              <a:rPr spc="-75" dirty="0"/>
              <a:t>O</a:t>
            </a:r>
            <a:r>
              <a:rPr spc="-200" dirty="0"/>
              <a:t>CUS</a:t>
            </a:r>
            <a:r>
              <a:rPr spc="-140" dirty="0"/>
              <a:t> </a:t>
            </a:r>
            <a:r>
              <a:rPr spc="30" dirty="0"/>
              <a:t>ON</a:t>
            </a:r>
            <a:r>
              <a:rPr spc="-130" dirty="0"/>
              <a:t> </a:t>
            </a:r>
            <a:r>
              <a:rPr spc="-160" dirty="0"/>
              <a:t>CL</a:t>
            </a:r>
            <a:r>
              <a:rPr spc="-75" dirty="0"/>
              <a:t>I</a:t>
            </a:r>
            <a:r>
              <a:rPr spc="-65" dirty="0"/>
              <a:t>ENT  </a:t>
            </a:r>
            <a:r>
              <a:rPr spc="-80" dirty="0">
                <a:solidFill>
                  <a:srgbClr val="006FAC"/>
                </a:solidFill>
              </a:rPr>
              <a:t>O</a:t>
            </a:r>
            <a:r>
              <a:rPr spc="-70" dirty="0">
                <a:solidFill>
                  <a:srgbClr val="006FAC"/>
                </a:solidFill>
              </a:rPr>
              <a:t>B</a:t>
            </a:r>
            <a:r>
              <a:rPr spc="-170" dirty="0">
                <a:solidFill>
                  <a:srgbClr val="006FAC"/>
                </a:solidFill>
              </a:rPr>
              <a:t>JE</a:t>
            </a:r>
            <a:r>
              <a:rPr spc="-215" dirty="0">
                <a:solidFill>
                  <a:srgbClr val="006FAC"/>
                </a:solidFill>
              </a:rPr>
              <a:t>C</a:t>
            </a:r>
            <a:r>
              <a:rPr spc="-110" dirty="0">
                <a:solidFill>
                  <a:srgbClr val="006FAC"/>
                </a:solidFill>
              </a:rPr>
              <a:t>TIVES</a:t>
            </a:r>
            <a:r>
              <a:rPr spc="-130" dirty="0">
                <a:solidFill>
                  <a:srgbClr val="006FAC"/>
                </a:solidFill>
              </a:rPr>
              <a:t> </a:t>
            </a:r>
            <a:r>
              <a:rPr spc="-100" dirty="0">
                <a:solidFill>
                  <a:srgbClr val="006FAC"/>
                </a:solidFill>
              </a:rPr>
              <a:t>&amp;</a:t>
            </a:r>
            <a:r>
              <a:rPr spc="-130" dirty="0">
                <a:solidFill>
                  <a:srgbClr val="006FAC"/>
                </a:solidFill>
              </a:rPr>
              <a:t> </a:t>
            </a:r>
            <a:r>
              <a:rPr spc="-75" dirty="0">
                <a:solidFill>
                  <a:srgbClr val="006FAC"/>
                </a:solidFill>
              </a:rPr>
              <a:t>PA</a:t>
            </a:r>
            <a:r>
              <a:rPr spc="-45" dirty="0">
                <a:solidFill>
                  <a:srgbClr val="006FAC"/>
                </a:solidFill>
              </a:rPr>
              <a:t>I</a:t>
            </a:r>
            <a:r>
              <a:rPr spc="45" dirty="0">
                <a:solidFill>
                  <a:srgbClr val="006FAC"/>
                </a:solidFill>
              </a:rPr>
              <a:t>N</a:t>
            </a:r>
            <a:r>
              <a:rPr spc="-120" dirty="0">
                <a:solidFill>
                  <a:srgbClr val="006FAC"/>
                </a:solidFill>
              </a:rPr>
              <a:t> </a:t>
            </a:r>
            <a:r>
              <a:rPr spc="-70" dirty="0">
                <a:solidFill>
                  <a:srgbClr val="006FAC"/>
                </a:solidFill>
              </a:rPr>
              <a:t>POINTS</a:t>
            </a:r>
            <a:endParaRPr spc="-70" dirty="0">
              <a:solidFill>
                <a:srgbClr val="006FA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765" y="-84083"/>
            <a:ext cx="12207765" cy="420414"/>
          </a:xfrm>
          <a:prstGeom prst="rect">
            <a:avLst/>
          </a:prstGeom>
          <a:solidFill>
            <a:schemeClr val="accent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AI/ML Application - Architecture</a:t>
            </a:r>
            <a:endParaRPr lang="en-US" sz="2000" dirty="0"/>
          </a:p>
        </p:txBody>
      </p:sp>
      <p:grpSp>
        <p:nvGrpSpPr>
          <p:cNvPr id="5" name="object 79"/>
          <p:cNvGrpSpPr/>
          <p:nvPr/>
        </p:nvGrpSpPr>
        <p:grpSpPr>
          <a:xfrm>
            <a:off x="76200" y="2667000"/>
            <a:ext cx="533400" cy="533400"/>
            <a:chOff x="405233" y="4647609"/>
            <a:chExt cx="594360" cy="563880"/>
          </a:xfrm>
        </p:grpSpPr>
        <p:sp>
          <p:nvSpPr>
            <p:cNvPr id="6" name="object 80"/>
            <p:cNvSpPr/>
            <p:nvPr/>
          </p:nvSpPr>
          <p:spPr>
            <a:xfrm>
              <a:off x="405233" y="4647609"/>
              <a:ext cx="594360" cy="563880"/>
            </a:xfrm>
            <a:custGeom>
              <a:avLst/>
              <a:gdLst/>
              <a:ahLst/>
              <a:cxnLst/>
              <a:rect l="l" t="t" r="r" b="b"/>
              <a:pathLst>
                <a:path w="594360" h="563879">
                  <a:moveTo>
                    <a:pt x="299629" y="0"/>
                  </a:moveTo>
                  <a:lnTo>
                    <a:pt x="253732" y="3527"/>
                  </a:lnTo>
                  <a:lnTo>
                    <a:pt x="208462" y="13897"/>
                  </a:lnTo>
                  <a:lnTo>
                    <a:pt x="164656" y="31214"/>
                  </a:lnTo>
                  <a:lnTo>
                    <a:pt x="123150" y="55581"/>
                  </a:lnTo>
                  <a:lnTo>
                    <a:pt x="86233" y="86740"/>
                  </a:lnTo>
                  <a:lnTo>
                    <a:pt x="55710" y="122129"/>
                  </a:lnTo>
                  <a:lnTo>
                    <a:pt x="31703" y="160908"/>
                  </a:lnTo>
                  <a:lnTo>
                    <a:pt x="14334" y="202240"/>
                  </a:lnTo>
                  <a:lnTo>
                    <a:pt x="3726" y="245287"/>
                  </a:lnTo>
                  <a:lnTo>
                    <a:pt x="0" y="289210"/>
                  </a:lnTo>
                  <a:lnTo>
                    <a:pt x="3278" y="333171"/>
                  </a:lnTo>
                  <a:lnTo>
                    <a:pt x="13683" y="376332"/>
                  </a:lnTo>
                  <a:lnTo>
                    <a:pt x="31336" y="417855"/>
                  </a:lnTo>
                  <a:lnTo>
                    <a:pt x="56361" y="456901"/>
                  </a:lnTo>
                  <a:lnTo>
                    <a:pt x="88214" y="491790"/>
                  </a:lnTo>
                  <a:lnTo>
                    <a:pt x="124039" y="519758"/>
                  </a:lnTo>
                  <a:lnTo>
                    <a:pt x="163106" y="540855"/>
                  </a:lnTo>
                  <a:lnTo>
                    <a:pt x="204681" y="555134"/>
                  </a:lnTo>
                  <a:lnTo>
                    <a:pt x="248034" y="562644"/>
                  </a:lnTo>
                  <a:lnTo>
                    <a:pt x="292431" y="563438"/>
                  </a:lnTo>
                  <a:lnTo>
                    <a:pt x="337142" y="557565"/>
                  </a:lnTo>
                  <a:lnTo>
                    <a:pt x="381434" y="545077"/>
                  </a:lnTo>
                  <a:lnTo>
                    <a:pt x="424575" y="526026"/>
                  </a:lnTo>
                  <a:lnTo>
                    <a:pt x="465834" y="500462"/>
                  </a:lnTo>
                  <a:lnTo>
                    <a:pt x="502295" y="470499"/>
                  </a:lnTo>
                  <a:lnTo>
                    <a:pt x="533075" y="436846"/>
                  </a:lnTo>
                  <a:lnTo>
                    <a:pt x="557895" y="400184"/>
                  </a:lnTo>
                  <a:lnTo>
                    <a:pt x="576476" y="361197"/>
                  </a:lnTo>
                  <a:lnTo>
                    <a:pt x="588540" y="320566"/>
                  </a:lnTo>
                  <a:lnTo>
                    <a:pt x="593808" y="278976"/>
                  </a:lnTo>
                  <a:lnTo>
                    <a:pt x="592002" y="237108"/>
                  </a:lnTo>
                  <a:lnTo>
                    <a:pt x="582842" y="195646"/>
                  </a:lnTo>
                  <a:lnTo>
                    <a:pt x="566050" y="155271"/>
                  </a:lnTo>
                  <a:lnTo>
                    <a:pt x="541348" y="116668"/>
                  </a:lnTo>
                  <a:lnTo>
                    <a:pt x="509251" y="81336"/>
                  </a:lnTo>
                  <a:lnTo>
                    <a:pt x="472763" y="52220"/>
                  </a:lnTo>
                  <a:lnTo>
                    <a:pt x="432721" y="29424"/>
                  </a:lnTo>
                  <a:lnTo>
                    <a:pt x="389960" y="13052"/>
                  </a:lnTo>
                  <a:lnTo>
                    <a:pt x="345317" y="3209"/>
                  </a:lnTo>
                  <a:lnTo>
                    <a:pt x="299629" y="0"/>
                  </a:lnTo>
                  <a:close/>
                </a:path>
              </a:pathLst>
            </a:custGeom>
            <a:solidFill>
              <a:srgbClr val="12AB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8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5721" y="4767199"/>
              <a:ext cx="147777" cy="155320"/>
            </a:xfrm>
            <a:prstGeom prst="rect">
              <a:avLst/>
            </a:prstGeom>
          </p:spPr>
        </p:pic>
        <p:sp>
          <p:nvSpPr>
            <p:cNvPr id="8" name="object 82"/>
            <p:cNvSpPr/>
            <p:nvPr/>
          </p:nvSpPr>
          <p:spPr>
            <a:xfrm>
              <a:off x="550167" y="4948078"/>
              <a:ext cx="271145" cy="154305"/>
            </a:xfrm>
            <a:custGeom>
              <a:avLst/>
              <a:gdLst/>
              <a:ahLst/>
              <a:cxnLst/>
              <a:rect l="l" t="t" r="r" b="b"/>
              <a:pathLst>
                <a:path w="271144" h="154304">
                  <a:moveTo>
                    <a:pt x="165735" y="0"/>
                  </a:moveTo>
                  <a:lnTo>
                    <a:pt x="102739" y="3778"/>
                  </a:lnTo>
                  <a:lnTo>
                    <a:pt x="38197" y="40830"/>
                  </a:lnTo>
                  <a:lnTo>
                    <a:pt x="2307" y="105886"/>
                  </a:lnTo>
                  <a:lnTo>
                    <a:pt x="0" y="131192"/>
                  </a:lnTo>
                  <a:lnTo>
                    <a:pt x="326" y="139668"/>
                  </a:lnTo>
                  <a:lnTo>
                    <a:pt x="38044" y="141129"/>
                  </a:lnTo>
                  <a:lnTo>
                    <a:pt x="77529" y="146601"/>
                  </a:lnTo>
                  <a:lnTo>
                    <a:pt x="121024" y="152232"/>
                  </a:lnTo>
                  <a:lnTo>
                    <a:pt x="170772" y="154168"/>
                  </a:lnTo>
                  <a:lnTo>
                    <a:pt x="229015" y="148558"/>
                  </a:lnTo>
                  <a:lnTo>
                    <a:pt x="265703" y="121681"/>
                  </a:lnTo>
                  <a:lnTo>
                    <a:pt x="271078" y="103078"/>
                  </a:lnTo>
                  <a:lnTo>
                    <a:pt x="268791" y="83153"/>
                  </a:lnTo>
                  <a:lnTo>
                    <a:pt x="248857" y="45640"/>
                  </a:lnTo>
                  <a:lnTo>
                    <a:pt x="214473" y="15938"/>
                  </a:lnTo>
                  <a:lnTo>
                    <a:pt x="1657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Rectangle 8"/>
          <p:cNvSpPr/>
          <p:nvPr/>
        </p:nvSpPr>
        <p:spPr>
          <a:xfrm>
            <a:off x="1905000" y="1066800"/>
            <a:ext cx="2257540" cy="336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2F5597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Main File/Layer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34000" y="1066800"/>
            <a:ext cx="2257540" cy="336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2F5597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Business Logic Layer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15400" y="1066800"/>
            <a:ext cx="2257540" cy="336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2F5597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 Layer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05000" y="1371600"/>
            <a:ext cx="2257540" cy="30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334000" y="1371601"/>
            <a:ext cx="2257540" cy="30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15400" y="1371600"/>
            <a:ext cx="2257540" cy="30217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28800" y="5638800"/>
            <a:ext cx="9448799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1828800" y="5257800"/>
            <a:ext cx="9448800" cy="381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2F5597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Common Layer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Arrow: Left-Right 18"/>
          <p:cNvSpPr/>
          <p:nvPr/>
        </p:nvSpPr>
        <p:spPr>
          <a:xfrm rot="5400000" flipH="1">
            <a:off x="2762250" y="4629150"/>
            <a:ext cx="838200" cy="4191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Left-Right 19"/>
          <p:cNvSpPr/>
          <p:nvPr/>
        </p:nvSpPr>
        <p:spPr>
          <a:xfrm rot="5400000" flipH="1">
            <a:off x="5962650" y="4629150"/>
            <a:ext cx="838200" cy="4191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Left-Right 20"/>
          <p:cNvSpPr/>
          <p:nvPr/>
        </p:nvSpPr>
        <p:spPr>
          <a:xfrm rot="5400000" flipH="1">
            <a:off x="9544050" y="4629150"/>
            <a:ext cx="838200" cy="4191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/>
          <p:cNvSpPr/>
          <p:nvPr/>
        </p:nvSpPr>
        <p:spPr>
          <a:xfrm>
            <a:off x="685800" y="2667000"/>
            <a:ext cx="1066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Left 26"/>
          <p:cNvSpPr/>
          <p:nvPr/>
        </p:nvSpPr>
        <p:spPr>
          <a:xfrm>
            <a:off x="685800" y="3200400"/>
            <a:ext cx="1066800" cy="152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685800" y="22098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Request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609600" y="3429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Response</a:t>
            </a:r>
            <a:endParaRPr lang="en-IN" dirty="0"/>
          </a:p>
        </p:txBody>
      </p:sp>
      <p:sp>
        <p:nvSpPr>
          <p:cNvPr id="32" name="Speech Bubble: Rectangle 31"/>
          <p:cNvSpPr/>
          <p:nvPr/>
        </p:nvSpPr>
        <p:spPr>
          <a:xfrm>
            <a:off x="152400" y="1447800"/>
            <a:ext cx="1295400" cy="838200"/>
          </a:xfrm>
          <a:prstGeom prst="wedgeRect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User Input Parameters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Speech Bubble: Rectangle with Corners Rounded 32"/>
          <p:cNvSpPr/>
          <p:nvPr/>
        </p:nvSpPr>
        <p:spPr>
          <a:xfrm rot="10800000">
            <a:off x="228600" y="3886200"/>
            <a:ext cx="1371600" cy="990600"/>
          </a:xfrm>
          <a:prstGeom prst="wedgeRoundRect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152400" y="388620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Recommendation Results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838200" y="2895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API</a:t>
            </a:r>
            <a:endParaRPr lang="en-IN" dirty="0"/>
          </a:p>
        </p:txBody>
      </p:sp>
      <p:sp>
        <p:nvSpPr>
          <p:cNvPr id="36" name="Cylinder 35"/>
          <p:cNvSpPr/>
          <p:nvPr/>
        </p:nvSpPr>
        <p:spPr>
          <a:xfrm>
            <a:off x="9448800" y="1905000"/>
            <a:ext cx="1066800" cy="609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Elk query</a:t>
            </a:r>
            <a:endParaRPr lang="en-IN" sz="1200" dirty="0"/>
          </a:p>
        </p:txBody>
      </p:sp>
      <p:sp>
        <p:nvSpPr>
          <p:cNvPr id="37" name="Cylinder 36"/>
          <p:cNvSpPr/>
          <p:nvPr/>
        </p:nvSpPr>
        <p:spPr>
          <a:xfrm>
            <a:off x="9448800" y="3200400"/>
            <a:ext cx="1066800" cy="7620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SQL query</a:t>
            </a:r>
            <a:endParaRPr lang="en-IN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9220200" y="1524000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Elastic Search</a:t>
            </a:r>
            <a:endParaRPr lang="en-IN" sz="12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9220200" y="2743200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PostgreSQL</a:t>
            </a:r>
            <a:endParaRPr lang="en-IN" sz="1200" b="1" dirty="0"/>
          </a:p>
        </p:txBody>
      </p:sp>
      <p:grpSp>
        <p:nvGrpSpPr>
          <p:cNvPr id="40" name="object 19"/>
          <p:cNvGrpSpPr/>
          <p:nvPr/>
        </p:nvGrpSpPr>
        <p:grpSpPr>
          <a:xfrm>
            <a:off x="2209800" y="1828800"/>
            <a:ext cx="1495412" cy="387545"/>
            <a:chOff x="3828288" y="4419600"/>
            <a:chExt cx="1528266" cy="608076"/>
          </a:xfrm>
        </p:grpSpPr>
        <p:pic>
          <p:nvPicPr>
            <p:cNvPr id="41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5451" y="4461560"/>
              <a:ext cx="451103" cy="545490"/>
            </a:xfrm>
            <a:prstGeom prst="rect">
              <a:avLst/>
            </a:prstGeom>
          </p:spPr>
        </p:pic>
        <p:pic>
          <p:nvPicPr>
            <p:cNvPr id="42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8288" y="4419600"/>
              <a:ext cx="449579" cy="608076"/>
            </a:xfrm>
            <a:prstGeom prst="rect">
              <a:avLst/>
            </a:prstGeom>
          </p:spPr>
        </p:pic>
      </p:grpSp>
      <p:sp>
        <p:nvSpPr>
          <p:cNvPr id="43" name="TextBox 42"/>
          <p:cNvSpPr txBox="1"/>
          <p:nvPr/>
        </p:nvSpPr>
        <p:spPr>
          <a:xfrm>
            <a:off x="2209800" y="236220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APM ELK Service</a:t>
            </a:r>
            <a:endParaRPr lang="en-IN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2209800" y="281940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API Endpoints</a:t>
            </a:r>
            <a:endParaRPr lang="en-IN" sz="12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2209800" y="320040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JWT Tokens </a:t>
            </a:r>
            <a:endParaRPr lang="en-IN" sz="1200" b="1" dirty="0"/>
          </a:p>
        </p:txBody>
      </p:sp>
      <p:sp>
        <p:nvSpPr>
          <p:cNvPr id="46" name="Arrow: Left-Right 45"/>
          <p:cNvSpPr/>
          <p:nvPr/>
        </p:nvSpPr>
        <p:spPr>
          <a:xfrm>
            <a:off x="4267200" y="2667000"/>
            <a:ext cx="990600" cy="2286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Left-Right 46"/>
          <p:cNvSpPr/>
          <p:nvPr/>
        </p:nvSpPr>
        <p:spPr>
          <a:xfrm>
            <a:off x="7772400" y="2743200"/>
            <a:ext cx="990600" cy="2286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5486400" y="3200401"/>
            <a:ext cx="838200" cy="44371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R="5080">
              <a:spcBef>
                <a:spcPts val="100"/>
              </a:spcBef>
            </a:pPr>
            <a:r>
              <a:rPr lang="en-IN" sz="1100" b="1" dirty="0"/>
              <a:t>AI / ML</a:t>
            </a:r>
            <a:endParaRPr lang="en-IN" sz="1100" b="1" dirty="0"/>
          </a:p>
          <a:p>
            <a:pPr marR="5080">
              <a:spcBef>
                <a:spcPts val="100"/>
              </a:spcBef>
            </a:pPr>
            <a:r>
              <a:rPr lang="en-IN" sz="1100" b="1" dirty="0"/>
              <a:t>Algorithm</a:t>
            </a:r>
            <a:endParaRPr lang="en-IN" sz="1100" b="1" dirty="0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581400"/>
            <a:ext cx="826704" cy="72835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562600" y="3657600"/>
            <a:ext cx="9906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spc="-35" dirty="0">
                <a:highlight>
                  <a:srgbClr val="C0C0C0"/>
                </a:highlight>
                <a:latin typeface="Arial" panose="020B0604020202020204"/>
                <a:cs typeface="Arial" panose="020B0604020202020204"/>
              </a:rPr>
              <a:t>Cosine Similarity Distance</a:t>
            </a:r>
            <a:endParaRPr lang="en-IN" sz="1100" b="1" spc="-35" dirty="0">
              <a:highlight>
                <a:srgbClr val="C0C0C0"/>
              </a:highlight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24600" y="3276600"/>
            <a:ext cx="1295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Ranked Response</a:t>
            </a:r>
            <a:endParaRPr lang="en-IN" sz="1100" b="1" dirty="0"/>
          </a:p>
        </p:txBody>
      </p:sp>
      <p:sp>
        <p:nvSpPr>
          <p:cNvPr id="58" name="TextBox 26"/>
          <p:cNvSpPr txBox="1"/>
          <p:nvPr/>
        </p:nvSpPr>
        <p:spPr>
          <a:xfrm>
            <a:off x="5486400" y="1828800"/>
            <a:ext cx="1981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IN" altLang="en-US" sz="1050" b="1" spc="-45" dirty="0">
                <a:latin typeface="Arial" panose="020B0604020202020204"/>
                <a:cs typeface="Arial" panose="020B0604020202020204"/>
              </a:rPr>
              <a:t>Sentence BERT Pre-Trained Model</a:t>
            </a:r>
            <a:endParaRPr lang="en-IN" altLang="en-US" sz="1050" b="1" spc="-45" dirty="0">
              <a:latin typeface="Arial" panose="020B0604020202020204"/>
              <a:cs typeface="Arial" panose="020B0604020202020204"/>
            </a:endParaRPr>
          </a:p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IN" altLang="en-US" sz="1050" b="1" spc="-45" dirty="0">
                <a:latin typeface="Arial" panose="020B0604020202020204"/>
                <a:cs typeface="Arial" panose="020B0604020202020204"/>
              </a:rPr>
              <a:t>Spacy Engine</a:t>
            </a:r>
            <a:endParaRPr lang="en-IN" altLang="en-US" sz="1050" b="1" spc="-45" dirty="0">
              <a:latin typeface="Arial" panose="020B0604020202020204"/>
              <a:cs typeface="Arial" panose="020B0604020202020204"/>
            </a:endParaRPr>
          </a:p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IN" altLang="en-US" sz="1050" b="1" spc="-45" dirty="0">
                <a:latin typeface="Arial" panose="020B0604020202020204"/>
                <a:cs typeface="Arial" panose="020B0604020202020204"/>
              </a:rPr>
              <a:t>Entity Extraction</a:t>
            </a:r>
            <a:endParaRPr lang="en-IN" altLang="en-US" sz="1050" b="1" spc="-45" dirty="0">
              <a:latin typeface="Arial" panose="020B0604020202020204"/>
              <a:cs typeface="Arial" panose="020B0604020202020204"/>
            </a:endParaRPr>
          </a:p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IN" altLang="en-US" sz="1050" b="1" spc="-45" dirty="0">
                <a:latin typeface="Arial" panose="020B0604020202020204"/>
                <a:cs typeface="Arial" panose="020B0604020202020204"/>
              </a:rPr>
              <a:t>NDIM</a:t>
            </a:r>
            <a:endParaRPr lang="en-IN" altLang="en-US" sz="1050" b="1" spc="-45" dirty="0">
              <a:latin typeface="Arial" panose="020B0604020202020204"/>
              <a:cs typeface="Arial" panose="020B0604020202020204"/>
            </a:endParaRPr>
          </a:p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US" sz="1050" b="1" spc="-45" dirty="0">
                <a:latin typeface="Arial" panose="020B0604020202020204"/>
                <a:cs typeface="Arial" panose="020B0604020202020204"/>
              </a:rPr>
              <a:t>Flatten Vector</a:t>
            </a:r>
            <a:endParaRPr lang="en-US" sz="1050" b="1" spc="-4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TextBox 26"/>
          <p:cNvSpPr txBox="1"/>
          <p:nvPr/>
        </p:nvSpPr>
        <p:spPr>
          <a:xfrm>
            <a:off x="2057400" y="5638800"/>
            <a:ext cx="160020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US" sz="1050" b="1" spc="-45" dirty="0">
                <a:latin typeface="Arial" panose="020B0604020202020204"/>
                <a:cs typeface="Arial" panose="020B0604020202020204"/>
              </a:rPr>
              <a:t>Tokenization</a:t>
            </a:r>
            <a:endParaRPr lang="en-US" sz="1050" b="1" spc="-45" dirty="0">
              <a:latin typeface="Arial" panose="020B0604020202020204"/>
              <a:cs typeface="Arial" panose="020B0604020202020204"/>
            </a:endParaRPr>
          </a:p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US" sz="1050" b="1" spc="-45" dirty="0">
                <a:latin typeface="Arial" panose="020B0604020202020204"/>
                <a:cs typeface="Arial" panose="020B0604020202020204"/>
              </a:rPr>
              <a:t>Lower Casing</a:t>
            </a:r>
            <a:endParaRPr lang="en-US" sz="1050" b="1" spc="-45" dirty="0">
              <a:latin typeface="Arial" panose="020B0604020202020204"/>
              <a:cs typeface="Arial" panose="020B0604020202020204"/>
            </a:endParaRPr>
          </a:p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US" sz="1050" b="1" spc="-45" dirty="0">
                <a:latin typeface="Arial" panose="020B0604020202020204"/>
                <a:cs typeface="Arial" panose="020B0604020202020204"/>
              </a:rPr>
              <a:t>Stop word removal</a:t>
            </a:r>
            <a:endParaRPr lang="en-US" sz="1050" b="1" spc="-45" dirty="0">
              <a:latin typeface="Arial" panose="020B0604020202020204"/>
              <a:cs typeface="Arial" panose="020B0604020202020204"/>
            </a:endParaRPr>
          </a:p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US" sz="1050" b="1" spc="-45" dirty="0">
                <a:latin typeface="Arial" panose="020B0604020202020204"/>
                <a:cs typeface="Arial" panose="020B0604020202020204"/>
              </a:rPr>
              <a:t>Rare word removal</a:t>
            </a:r>
            <a:endParaRPr lang="en-US" sz="1050" b="1" spc="-45" dirty="0">
              <a:latin typeface="Arial" panose="020B0604020202020204"/>
              <a:cs typeface="Arial" panose="020B0604020202020204"/>
            </a:endParaRPr>
          </a:p>
          <a:p>
            <a:pPr marL="184785" indent="-172720">
              <a:buClr>
                <a:srgbClr val="006FAC"/>
              </a:buClr>
              <a:buFont typeface="Wingdings" panose="05000000000000000000"/>
              <a:buChar char=""/>
              <a:tabLst>
                <a:tab pos="185420" algn="l"/>
              </a:tabLst>
            </a:pPr>
            <a:r>
              <a:rPr lang="en-US" sz="1050" b="1" spc="-45" dirty="0">
                <a:latin typeface="Arial" panose="020B0604020202020204"/>
                <a:cs typeface="Arial" panose="020B0604020202020204"/>
              </a:rPr>
              <a:t>Lemmatization</a:t>
            </a:r>
            <a:endParaRPr lang="en-US" sz="1050" b="1" spc="-4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886200" y="5715000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NLP Common function</a:t>
            </a:r>
            <a:endParaRPr lang="en-IN" sz="1200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3962400" y="6172200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Weightage calculation</a:t>
            </a:r>
            <a:endParaRPr lang="en-IN" sz="12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5715000" y="5715000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Entity Extraction</a:t>
            </a:r>
            <a:endParaRPr lang="en-IN" sz="1200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5638800" y="1447801"/>
            <a:ext cx="18288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IN" sz="1200" b="1" spc="-140" dirty="0">
                <a:latin typeface="Arial" panose="020B0604020202020204"/>
                <a:cs typeface="Arial" panose="020B0604020202020204"/>
              </a:rPr>
              <a:t>NLP Engine Block</a:t>
            </a:r>
            <a:endParaRPr lang="en-IN" sz="1200" b="1" spc="-14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791200" y="6172200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Pdf and docx extraction</a:t>
            </a:r>
            <a:endParaRPr lang="en-IN" sz="1200" b="1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057400"/>
            <a:ext cx="438173" cy="482625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5791200"/>
            <a:ext cx="438173" cy="482625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1447800"/>
            <a:ext cx="438173" cy="482625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209800" y="3810000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Exception handling</a:t>
            </a:r>
            <a:endParaRPr lang="en-IN" sz="1200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2209800" y="350520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Pagination</a:t>
            </a:r>
            <a:endParaRPr lang="en-IN" sz="12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7543800" y="5715000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1200" b="1"/>
            </a:lvl1pPr>
          </a:lstStyle>
          <a:p>
            <a:r>
              <a:rPr lang="en-IN" dirty="0"/>
              <a:t>Location Distance calculations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252" y="125129"/>
            <a:ext cx="692056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Baseline Created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2880" y="539015"/>
          <a:ext cx="1673239" cy="1456202"/>
        </p:xfrm>
        <a:graphic>
          <a:graphicData uri="http://schemas.openxmlformats.org/drawingml/2006/table">
            <a:tbl>
              <a:tblPr/>
              <a:tblGrid>
                <a:gridCol w="273050"/>
                <a:gridCol w="1400189"/>
              </a:tblGrid>
              <a:tr h="27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PEId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4328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Inputs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4328">
                        <a:lumMod val="50000"/>
                      </a:srgbClr>
                    </a:solidFill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SiteID</a:t>
                      </a:r>
                      <a:endParaRPr lang="en-I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79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MeterID</a:t>
                      </a:r>
                      <a:endParaRPr lang="en-I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Baseline Period</a:t>
                      </a:r>
                      <a:endParaRPr lang="en-I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Template</a:t>
                      </a:r>
                      <a:endParaRPr lang="en-I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Model Applied For</a:t>
                      </a:r>
                      <a:endParaRPr lang="en-I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27960" y="765238"/>
            <a:ext cx="2180590" cy="884555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Retrived  </a:t>
            </a:r>
            <a:r>
              <a:rPr lang="en-IN" sz="1400" b="1" dirty="0"/>
              <a:t>Silver table</a:t>
            </a:r>
            <a:r>
              <a:rPr lang="en-IN" sz="1400" dirty="0"/>
              <a:t> used Baseline Screen Inputs 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828800" y="1207516"/>
            <a:ext cx="909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3825240" y="2137343"/>
            <a:ext cx="1706" cy="452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Alternate Process 27"/>
          <p:cNvSpPr/>
          <p:nvPr/>
        </p:nvSpPr>
        <p:spPr>
          <a:xfrm>
            <a:off x="2673150" y="1895106"/>
            <a:ext cx="2348563" cy="451854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Feature Engineering </a:t>
            </a:r>
            <a:endParaRPr lang="en-IN" sz="1200" dirty="0"/>
          </a:p>
        </p:txBody>
      </p:sp>
      <p:sp>
        <p:nvSpPr>
          <p:cNvPr id="31" name="Rectangle: Rounded Corners 30"/>
          <p:cNvSpPr/>
          <p:nvPr/>
        </p:nvSpPr>
        <p:spPr>
          <a:xfrm>
            <a:off x="2479575" y="2584381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Build </a:t>
            </a:r>
            <a:r>
              <a:rPr lang="en-IN" sz="1200" b="1" dirty="0">
                <a:solidFill>
                  <a:schemeClr val="dk1"/>
                </a:solidFill>
              </a:rPr>
              <a:t>Regression Model </a:t>
            </a:r>
            <a:r>
              <a:rPr lang="en-IN" sz="1200" dirty="0">
                <a:solidFill>
                  <a:schemeClr val="dk1"/>
                </a:solidFill>
              </a:rPr>
              <a:t>using Templates (with Independent variables) with Model Applied logics(All day, week day etc..)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283158" y="5669280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0" y="3528060"/>
            <a:ext cx="1452880" cy="72644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Generate Baseline with Reporting Period</a:t>
            </a:r>
            <a:endParaRPr lang="en-IN" sz="12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3860265" y="3183822"/>
            <a:ext cx="0" cy="422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2143760" y="791411"/>
            <a:ext cx="197318" cy="3363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5311007" y="917074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  <a:endParaRPr lang="en-IN" dirty="0"/>
          </a:p>
        </p:txBody>
      </p:sp>
      <p:sp>
        <p:nvSpPr>
          <p:cNvPr id="48" name="Oval 47"/>
          <p:cNvSpPr/>
          <p:nvPr/>
        </p:nvSpPr>
        <p:spPr>
          <a:xfrm>
            <a:off x="3427130" y="167212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IN" dirty="0"/>
          </a:p>
        </p:txBody>
      </p:sp>
      <p:sp>
        <p:nvSpPr>
          <p:cNvPr id="77" name="Oval 76"/>
          <p:cNvSpPr/>
          <p:nvPr/>
        </p:nvSpPr>
        <p:spPr>
          <a:xfrm>
            <a:off x="3431408" y="233359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9" name="Cylinder 8"/>
          <p:cNvSpPr/>
          <p:nvPr/>
        </p:nvSpPr>
        <p:spPr>
          <a:xfrm>
            <a:off x="5994400" y="599440"/>
            <a:ext cx="1219200" cy="1216152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Silver Table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13" idx="3"/>
            <a:endCxn id="9" idx="2"/>
          </p:cNvCxnSpPr>
          <p:nvPr/>
        </p:nvCxnSpPr>
        <p:spPr>
          <a:xfrm>
            <a:off x="4908550" y="1207516"/>
            <a:ext cx="10858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28" idx="0"/>
          </p:cNvCxnSpPr>
          <p:nvPr/>
        </p:nvCxnSpPr>
        <p:spPr>
          <a:xfrm flipH="1">
            <a:off x="3847432" y="1649793"/>
            <a:ext cx="1303" cy="24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lowchart: Process 70"/>
          <p:cNvSpPr/>
          <p:nvPr/>
        </p:nvSpPr>
        <p:spPr>
          <a:xfrm>
            <a:off x="2814320" y="3576320"/>
            <a:ext cx="2092960" cy="62992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Multiple Model created with Different Metrics(</a:t>
            </a:r>
            <a:r>
              <a:rPr lang="en-IN" sz="1200" b="1" dirty="0"/>
              <a:t>R2,RMSE,MAPE</a:t>
            </a:r>
            <a:r>
              <a:rPr lang="en-IN" sz="1200" dirty="0"/>
              <a:t>)</a:t>
            </a:r>
            <a:endParaRPr lang="en-IN" sz="1200" dirty="0"/>
          </a:p>
        </p:txBody>
      </p:sp>
      <p:sp>
        <p:nvSpPr>
          <p:cNvPr id="75" name="Oval 74"/>
          <p:cNvSpPr/>
          <p:nvPr/>
        </p:nvSpPr>
        <p:spPr>
          <a:xfrm>
            <a:off x="3431408" y="333943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  <a:endParaRPr lang="en-IN" dirty="0"/>
          </a:p>
        </p:txBody>
      </p:sp>
      <p:sp>
        <p:nvSpPr>
          <p:cNvPr id="78" name="Flowchart: Magnetic Disk 77"/>
          <p:cNvSpPr/>
          <p:nvPr/>
        </p:nvSpPr>
        <p:spPr>
          <a:xfrm>
            <a:off x="5963920" y="3515360"/>
            <a:ext cx="1493520" cy="7620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ADLS</a:t>
            </a:r>
            <a:endParaRPr lang="en-IN" dirty="0"/>
          </a:p>
        </p:txBody>
      </p:sp>
      <p:cxnSp>
        <p:nvCxnSpPr>
          <p:cNvPr id="80" name="Straight Arrow Connector 79"/>
          <p:cNvCxnSpPr>
            <a:stCxn id="71" idx="3"/>
          </p:cNvCxnSpPr>
          <p:nvPr/>
        </p:nvCxnSpPr>
        <p:spPr>
          <a:xfrm>
            <a:off x="4907280" y="3891280"/>
            <a:ext cx="1097280" cy="20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55" idx="6"/>
            <a:endCxn id="71" idx="1"/>
          </p:cNvCxnSpPr>
          <p:nvPr/>
        </p:nvCxnSpPr>
        <p:spPr>
          <a:xfrm>
            <a:off x="1452880" y="3891280"/>
            <a:ext cx="1361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5178928" y="361375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lang="en-IN" dirty="0"/>
          </a:p>
        </p:txBody>
      </p:sp>
      <p:sp>
        <p:nvSpPr>
          <p:cNvPr id="91" name="Oval 90"/>
          <p:cNvSpPr/>
          <p:nvPr/>
        </p:nvSpPr>
        <p:spPr>
          <a:xfrm>
            <a:off x="1897248" y="364423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  <a:endParaRPr lang="en-IN" dirty="0"/>
          </a:p>
        </p:txBody>
      </p:sp>
      <p:sp>
        <p:nvSpPr>
          <p:cNvPr id="93" name="Cylinder 92"/>
          <p:cNvSpPr/>
          <p:nvPr/>
        </p:nvSpPr>
        <p:spPr>
          <a:xfrm>
            <a:off x="5140960" y="5039360"/>
            <a:ext cx="1249680" cy="853440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PostgreSQL</a:t>
            </a:r>
            <a:endParaRPr lang="en-IN" dirty="0"/>
          </a:p>
        </p:txBody>
      </p:sp>
      <p:sp>
        <p:nvSpPr>
          <p:cNvPr id="95" name="Oval 94"/>
          <p:cNvSpPr/>
          <p:nvPr/>
        </p:nvSpPr>
        <p:spPr>
          <a:xfrm>
            <a:off x="3197728" y="428431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  <a:endParaRPr lang="en-IN" dirty="0"/>
          </a:p>
        </p:txBody>
      </p:sp>
      <p:sp>
        <p:nvSpPr>
          <p:cNvPr id="99" name="Cylinder 98"/>
          <p:cNvSpPr/>
          <p:nvPr/>
        </p:nvSpPr>
        <p:spPr>
          <a:xfrm>
            <a:off x="1828800" y="5049520"/>
            <a:ext cx="1137920" cy="751840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Gold Table</a:t>
            </a:r>
            <a:endParaRPr lang="en-IN" dirty="0"/>
          </a:p>
        </p:txBody>
      </p:sp>
      <p:cxnSp>
        <p:nvCxnSpPr>
          <p:cNvPr id="101" name="Straight Connector 100"/>
          <p:cNvCxnSpPr/>
          <p:nvPr/>
        </p:nvCxnSpPr>
        <p:spPr>
          <a:xfrm>
            <a:off x="3830320" y="4206240"/>
            <a:ext cx="10160" cy="447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/>
          <p:cNvCxnSpPr/>
          <p:nvPr/>
        </p:nvCxnSpPr>
        <p:spPr>
          <a:xfrm>
            <a:off x="3850640" y="4632960"/>
            <a:ext cx="1905000" cy="4064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/>
          <p:cNvCxnSpPr>
            <a:endCxn id="99" idx="1"/>
          </p:cNvCxnSpPr>
          <p:nvPr/>
        </p:nvCxnSpPr>
        <p:spPr>
          <a:xfrm rot="10800000" flipV="1">
            <a:off x="2397760" y="4643120"/>
            <a:ext cx="1463040" cy="4064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4792848" y="432495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2880" y="125095"/>
            <a:ext cx="6911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Inference using Baseline 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2880" y="539015"/>
          <a:ext cx="1673239" cy="1235857"/>
        </p:xfrm>
        <a:graphic>
          <a:graphicData uri="http://schemas.openxmlformats.org/drawingml/2006/table">
            <a:tbl>
              <a:tblPr/>
              <a:tblGrid>
                <a:gridCol w="273050"/>
                <a:gridCol w="1400189"/>
              </a:tblGrid>
              <a:tr h="27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PEId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4328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Inference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Inputs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4328">
                        <a:lumMod val="50000"/>
                      </a:srgbClr>
                    </a:solidFill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SiteID</a:t>
                      </a:r>
                      <a:endParaRPr lang="en-I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79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MeterID</a:t>
                      </a:r>
                      <a:endParaRPr lang="en-I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Inference Period</a:t>
                      </a:r>
                      <a:endParaRPr lang="en-I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Template</a:t>
                      </a:r>
                      <a:endParaRPr lang="en-I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27960" y="765238"/>
            <a:ext cx="2180590" cy="884555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Retrived  </a:t>
            </a:r>
            <a:r>
              <a:rPr lang="en-IN" sz="1400" b="1" dirty="0"/>
              <a:t>Silver table</a:t>
            </a:r>
            <a:r>
              <a:rPr lang="en-IN" sz="1400" dirty="0"/>
              <a:t> used Baseline mete data from </a:t>
            </a:r>
            <a:r>
              <a:rPr lang="en-IN" sz="1400" dirty="0" err="1"/>
              <a:t>Postgre</a:t>
            </a:r>
            <a:r>
              <a:rPr lang="en-IN" sz="1400" dirty="0"/>
              <a:t> SQL 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828800" y="1207516"/>
            <a:ext cx="909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3764280" y="1649663"/>
            <a:ext cx="1706" cy="452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2520215" y="2117021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Load Baseline for Live inference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283158" y="5669280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3850105" y="2716462"/>
            <a:ext cx="0" cy="422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2143760" y="791411"/>
            <a:ext cx="197318" cy="3363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5311007" y="917074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  <a:endParaRPr lang="en-IN" dirty="0"/>
          </a:p>
        </p:txBody>
      </p:sp>
      <p:sp>
        <p:nvSpPr>
          <p:cNvPr id="48" name="Oval 47"/>
          <p:cNvSpPr/>
          <p:nvPr/>
        </p:nvSpPr>
        <p:spPr>
          <a:xfrm>
            <a:off x="3427130" y="167212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IN" dirty="0"/>
          </a:p>
        </p:txBody>
      </p:sp>
      <p:sp>
        <p:nvSpPr>
          <p:cNvPr id="77" name="Oval 76"/>
          <p:cNvSpPr/>
          <p:nvPr/>
        </p:nvSpPr>
        <p:spPr>
          <a:xfrm>
            <a:off x="5554848" y="206943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9" name="Cylinder 8"/>
          <p:cNvSpPr/>
          <p:nvPr/>
        </p:nvSpPr>
        <p:spPr>
          <a:xfrm>
            <a:off x="5994400" y="599440"/>
            <a:ext cx="1219200" cy="1216152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Silver Table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13" idx="3"/>
            <a:endCxn id="9" idx="2"/>
          </p:cNvCxnSpPr>
          <p:nvPr/>
        </p:nvCxnSpPr>
        <p:spPr>
          <a:xfrm>
            <a:off x="4908550" y="1207516"/>
            <a:ext cx="10858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lowchart: Process 70"/>
          <p:cNvSpPr/>
          <p:nvPr/>
        </p:nvSpPr>
        <p:spPr>
          <a:xfrm>
            <a:off x="2834640" y="3139440"/>
            <a:ext cx="2092960" cy="62992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Inferencing Result</a:t>
            </a:r>
            <a:endParaRPr lang="en-IN" sz="1200" dirty="0"/>
          </a:p>
        </p:txBody>
      </p:sp>
      <p:sp>
        <p:nvSpPr>
          <p:cNvPr id="75" name="Oval 74"/>
          <p:cNvSpPr/>
          <p:nvPr/>
        </p:nvSpPr>
        <p:spPr>
          <a:xfrm>
            <a:off x="3492368" y="288223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  <a:endParaRPr lang="en-IN" dirty="0"/>
          </a:p>
        </p:txBody>
      </p:sp>
      <p:sp>
        <p:nvSpPr>
          <p:cNvPr id="78" name="Flowchart: Magnetic Disk 77"/>
          <p:cNvSpPr/>
          <p:nvPr/>
        </p:nvSpPr>
        <p:spPr>
          <a:xfrm>
            <a:off x="5984240" y="1971040"/>
            <a:ext cx="1493520" cy="7620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ADLS</a:t>
            </a:r>
            <a:endParaRPr lang="en-IN" dirty="0"/>
          </a:p>
        </p:txBody>
      </p:sp>
      <p:sp>
        <p:nvSpPr>
          <p:cNvPr id="90" name="Oval 89"/>
          <p:cNvSpPr/>
          <p:nvPr/>
        </p:nvSpPr>
        <p:spPr>
          <a:xfrm>
            <a:off x="3492368" y="404047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lang="en-IN" dirty="0"/>
          </a:p>
        </p:txBody>
      </p:sp>
      <p:sp>
        <p:nvSpPr>
          <p:cNvPr id="99" name="Cylinder 98"/>
          <p:cNvSpPr/>
          <p:nvPr/>
        </p:nvSpPr>
        <p:spPr>
          <a:xfrm>
            <a:off x="3322320" y="4663440"/>
            <a:ext cx="1188720" cy="751840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Gold Table</a:t>
            </a:r>
            <a:endParaRPr lang="en-IN" dirty="0"/>
          </a:p>
        </p:txBody>
      </p:sp>
      <p:cxnSp>
        <p:nvCxnSpPr>
          <p:cNvPr id="138" name="Straight Arrow Connector 137"/>
          <p:cNvCxnSpPr>
            <a:stCxn id="31" idx="3"/>
          </p:cNvCxnSpPr>
          <p:nvPr/>
        </p:nvCxnSpPr>
        <p:spPr>
          <a:xfrm>
            <a:off x="5321166" y="2410592"/>
            <a:ext cx="663074" cy="59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71" idx="2"/>
            <a:endCxn id="99" idx="1"/>
          </p:cNvCxnSpPr>
          <p:nvPr/>
        </p:nvCxnSpPr>
        <p:spPr>
          <a:xfrm>
            <a:off x="3881120" y="3769360"/>
            <a:ext cx="35560" cy="894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252" y="125129"/>
            <a:ext cx="606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Recommendation Engine 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/>
          <p:cNvCxnSpPr>
            <a:endCxn id="19" idx="0"/>
          </p:cNvCxnSpPr>
          <p:nvPr/>
        </p:nvCxnSpPr>
        <p:spPr>
          <a:xfrm flipH="1">
            <a:off x="3720163" y="1212783"/>
            <a:ext cx="9628" cy="693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/>
          <p:cNvSpPr/>
          <p:nvPr/>
        </p:nvSpPr>
        <p:spPr>
          <a:xfrm>
            <a:off x="2011679" y="1905801"/>
            <a:ext cx="3416968" cy="1905802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If the matching </a:t>
            </a:r>
            <a:r>
              <a:rPr lang="en-IN" sz="1200" b="1" dirty="0"/>
              <a:t>domain</a:t>
            </a:r>
            <a:r>
              <a:rPr lang="en-IN" sz="1200" dirty="0"/>
              <a:t>, with the elk index records using the, </a:t>
            </a:r>
            <a:r>
              <a:rPr lang="en-IN" sz="1200" b="1" dirty="0"/>
              <a:t>must(AND)</a:t>
            </a:r>
            <a:r>
              <a:rPr lang="en-IN" sz="1200" dirty="0"/>
              <a:t> condition remaining all fields are used in the </a:t>
            </a:r>
            <a:r>
              <a:rPr lang="en-IN" sz="1200" b="1" dirty="0"/>
              <a:t>should(OR)</a:t>
            </a:r>
            <a:r>
              <a:rPr lang="en-IN" sz="1200" dirty="0"/>
              <a:t> condition    </a:t>
            </a:r>
            <a:endParaRPr lang="en-IN" sz="1200" dirty="0"/>
          </a:p>
        </p:txBody>
      </p:sp>
      <p:cxnSp>
        <p:nvCxnSpPr>
          <p:cNvPr id="21" name="Straight Arrow Connector 20"/>
          <p:cNvCxnSpPr>
            <a:stCxn id="19" idx="2"/>
          </p:cNvCxnSpPr>
          <p:nvPr/>
        </p:nvCxnSpPr>
        <p:spPr>
          <a:xfrm>
            <a:off x="3720163" y="3811603"/>
            <a:ext cx="0" cy="346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owchart: Decision 26"/>
          <p:cNvSpPr/>
          <p:nvPr/>
        </p:nvSpPr>
        <p:spPr>
          <a:xfrm>
            <a:off x="2019701" y="4156508"/>
            <a:ext cx="3416968" cy="1994034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If the matching </a:t>
            </a:r>
            <a:r>
              <a:rPr lang="en-IN" sz="1200" b="1" dirty="0"/>
              <a:t>Skillset</a:t>
            </a:r>
            <a:r>
              <a:rPr lang="en-IN" sz="1200" dirty="0"/>
              <a:t>, with the elk index records using the, </a:t>
            </a:r>
            <a:r>
              <a:rPr lang="en-IN" sz="1200" b="1" dirty="0"/>
              <a:t>must(AND)</a:t>
            </a:r>
            <a:r>
              <a:rPr lang="en-IN" sz="1200" dirty="0"/>
              <a:t> condition remaining all fields are used in the </a:t>
            </a:r>
            <a:r>
              <a:rPr lang="en-IN" sz="1200" b="1" dirty="0"/>
              <a:t>should(OR)</a:t>
            </a:r>
            <a:r>
              <a:rPr lang="en-IN" sz="1200" dirty="0"/>
              <a:t> condition    </a:t>
            </a:r>
            <a:endParaRPr lang="en-IN" sz="1200" dirty="0"/>
          </a:p>
        </p:txBody>
      </p:sp>
      <p:sp>
        <p:nvSpPr>
          <p:cNvPr id="28" name="Flowchart: Alternate Process 27"/>
          <p:cNvSpPr/>
          <p:nvPr/>
        </p:nvSpPr>
        <p:spPr>
          <a:xfrm>
            <a:off x="6198670" y="3561346"/>
            <a:ext cx="2348563" cy="644892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Find the minimum distance of locations with the user input location</a:t>
            </a:r>
            <a:endParaRPr lang="en-IN" sz="1200" dirty="0"/>
          </a:p>
        </p:txBody>
      </p:sp>
      <p:cxnSp>
        <p:nvCxnSpPr>
          <p:cNvPr id="30" name="Straight Arrow Connector 29"/>
          <p:cNvCxnSpPr>
            <a:stCxn id="28" idx="3"/>
            <a:endCxn id="31" idx="1"/>
          </p:cNvCxnSpPr>
          <p:nvPr/>
        </p:nvCxnSpPr>
        <p:spPr>
          <a:xfrm>
            <a:off x="8547233" y="3883792"/>
            <a:ext cx="404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8951495" y="3590221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Find the weightage calculation(using the above formula) for each record</a:t>
            </a:r>
            <a:endParaRPr lang="en-IN" sz="1200" dirty="0">
              <a:solidFill>
                <a:schemeClr val="dk1"/>
              </a:solidFill>
            </a:endParaRPr>
          </a:p>
        </p:txBody>
      </p:sp>
      <p:sp>
        <p:nvSpPr>
          <p:cNvPr id="32" name="Speech Bubble: Rectangle with Corners Rounded 31"/>
          <p:cNvSpPr/>
          <p:nvPr/>
        </p:nvSpPr>
        <p:spPr>
          <a:xfrm>
            <a:off x="8142971" y="1809551"/>
            <a:ext cx="3561347" cy="1414914"/>
          </a:xfrm>
          <a:prstGeom prst="wedgeRoundRectCallout">
            <a:avLst>
              <a:gd name="adj1" fmla="val -20833"/>
              <a:gd name="adj2" fmla="val 7406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(Job posting education encoding /User education encoding *15)+(Salary of job posting /Salary of user*20)+(Similar score of vector for user/100*25)+(If the posting location corresponds to the user's preferred location, the location score is 25, otherwise it is 0% using kilometre distance)+(Experience of job posting /Experience of user*15)</a:t>
            </a:r>
            <a:endParaRPr lang="en-IN" sz="1200" dirty="0"/>
          </a:p>
        </p:txBody>
      </p:sp>
      <p:cxnSp>
        <p:nvCxnSpPr>
          <p:cNvPr id="46" name="Straight Arrow Connector 45"/>
          <p:cNvCxnSpPr>
            <a:stCxn id="31" idx="2"/>
            <a:endCxn id="49" idx="0"/>
          </p:cNvCxnSpPr>
          <p:nvPr/>
        </p:nvCxnSpPr>
        <p:spPr>
          <a:xfrm>
            <a:off x="10351971" y="4177363"/>
            <a:ext cx="0" cy="52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34888" y="4706754"/>
            <a:ext cx="1434166" cy="962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410" y="4768313"/>
            <a:ext cx="725805" cy="63944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808143" y="5226517"/>
            <a:ext cx="110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Ranked Response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283158" y="5669280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272772" y="5944168"/>
            <a:ext cx="2001520" cy="846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Top 30 recommendation records as a</a:t>
            </a:r>
            <a:endParaRPr lang="en-IN" sz="1200" dirty="0"/>
          </a:p>
          <a:p>
            <a:pPr algn="ctr"/>
            <a:r>
              <a:rPr lang="en-IN" sz="1200" dirty="0"/>
              <a:t>response to the end user</a:t>
            </a:r>
            <a:endParaRPr lang="en-IN" sz="1200" dirty="0"/>
          </a:p>
        </p:txBody>
      </p:sp>
      <p:cxnSp>
        <p:nvCxnSpPr>
          <p:cNvPr id="66" name="Straight Arrow Connector 65"/>
          <p:cNvCxnSpPr>
            <a:stCxn id="27" idx="2"/>
          </p:cNvCxnSpPr>
          <p:nvPr/>
        </p:nvCxnSpPr>
        <p:spPr>
          <a:xfrm>
            <a:off x="3728185" y="6150542"/>
            <a:ext cx="6417" cy="707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627121" y="96092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48" name="Oval 47"/>
          <p:cNvSpPr/>
          <p:nvPr/>
        </p:nvSpPr>
        <p:spPr>
          <a:xfrm>
            <a:off x="3173130" y="403940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  <a:endParaRPr lang="en-IN" dirty="0"/>
          </a:p>
        </p:txBody>
      </p:sp>
      <p:cxnSp>
        <p:nvCxnSpPr>
          <p:cNvPr id="57" name="Connector: Elbow 56"/>
          <p:cNvCxnSpPr>
            <a:stCxn id="19" idx="3"/>
            <a:endCxn id="28" idx="0"/>
          </p:cNvCxnSpPr>
          <p:nvPr/>
        </p:nvCxnSpPr>
        <p:spPr>
          <a:xfrm>
            <a:off x="5428647" y="2858702"/>
            <a:ext cx="1944305" cy="7026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/>
          <p:cNvCxnSpPr>
            <a:stCxn id="27" idx="3"/>
            <a:endCxn id="28" idx="2"/>
          </p:cNvCxnSpPr>
          <p:nvPr/>
        </p:nvCxnSpPr>
        <p:spPr>
          <a:xfrm flipV="1">
            <a:off x="5436669" y="4206238"/>
            <a:ext cx="1936283" cy="9472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073541" y="2569944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5927557" y="4859153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77" name="Oval 76"/>
          <p:cNvSpPr/>
          <p:nvPr/>
        </p:nvSpPr>
        <p:spPr>
          <a:xfrm>
            <a:off x="3248528" y="6549992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lang="en-IN" dirty="0"/>
          </a:p>
        </p:txBody>
      </p:sp>
      <p:sp>
        <p:nvSpPr>
          <p:cNvPr id="78" name="TextBox 77"/>
          <p:cNvSpPr txBox="1"/>
          <p:nvPr/>
        </p:nvSpPr>
        <p:spPr>
          <a:xfrm>
            <a:off x="3838878" y="1317057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3800376" y="3800374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3731395" y="6359090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252" y="125129"/>
            <a:ext cx="606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Recommendation Engine  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/>
          <p:cNvCxnSpPr>
            <a:endCxn id="19" idx="0"/>
          </p:cNvCxnSpPr>
          <p:nvPr/>
        </p:nvCxnSpPr>
        <p:spPr>
          <a:xfrm flipH="1">
            <a:off x="3777914" y="2298030"/>
            <a:ext cx="9628" cy="693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/>
          <p:cNvSpPr/>
          <p:nvPr/>
        </p:nvSpPr>
        <p:spPr>
          <a:xfrm>
            <a:off x="2069430" y="2991048"/>
            <a:ext cx="3416968" cy="1785488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If the matching all input parameters with the elk respective fields using the </a:t>
            </a:r>
            <a:r>
              <a:rPr lang="en-IN" sz="1200" b="1" dirty="0"/>
              <a:t>should(OR</a:t>
            </a:r>
            <a:r>
              <a:rPr lang="en-IN" sz="1200" dirty="0"/>
              <a:t>) condition</a:t>
            </a:r>
            <a:endParaRPr lang="en-IN" sz="1200" dirty="0"/>
          </a:p>
        </p:txBody>
      </p:sp>
      <p:sp>
        <p:nvSpPr>
          <p:cNvPr id="28" name="Flowchart: Alternate Process 27"/>
          <p:cNvSpPr/>
          <p:nvPr/>
        </p:nvSpPr>
        <p:spPr>
          <a:xfrm>
            <a:off x="6198670" y="3561346"/>
            <a:ext cx="2348563" cy="644892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Find the minimum distance of locations with the user input location</a:t>
            </a:r>
            <a:endParaRPr lang="en-IN" sz="1200" dirty="0"/>
          </a:p>
        </p:txBody>
      </p:sp>
      <p:cxnSp>
        <p:nvCxnSpPr>
          <p:cNvPr id="30" name="Straight Arrow Connector 29"/>
          <p:cNvCxnSpPr>
            <a:stCxn id="28" idx="3"/>
            <a:endCxn id="31" idx="1"/>
          </p:cNvCxnSpPr>
          <p:nvPr/>
        </p:nvCxnSpPr>
        <p:spPr>
          <a:xfrm>
            <a:off x="8547233" y="3883792"/>
            <a:ext cx="404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8951495" y="3590221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Find the weightage calculation(using the above formula) for each record</a:t>
            </a:r>
            <a:endParaRPr lang="en-IN" sz="1200" dirty="0">
              <a:solidFill>
                <a:schemeClr val="dk1"/>
              </a:solidFill>
            </a:endParaRPr>
          </a:p>
        </p:txBody>
      </p:sp>
      <p:sp>
        <p:nvSpPr>
          <p:cNvPr id="32" name="Speech Bubble: Rectangle with Corners Rounded 31"/>
          <p:cNvSpPr/>
          <p:nvPr/>
        </p:nvSpPr>
        <p:spPr>
          <a:xfrm>
            <a:off x="8142971" y="1809551"/>
            <a:ext cx="3561347" cy="1414914"/>
          </a:xfrm>
          <a:prstGeom prst="wedgeRoundRectCallout">
            <a:avLst>
              <a:gd name="adj1" fmla="val -20833"/>
              <a:gd name="adj2" fmla="val 7406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(Job posting education encoding /User education encoding *15)+(Salary of job posting /Salary of user*20)+(Similar score of vector for user/100*25)+(If the posting location corresponds to the user's preferred location, the location score is 25, otherwise it is 0% using kilometre distance)+(Experience of job posting /Experience of user*15)</a:t>
            </a:r>
            <a:endParaRPr lang="en-IN" sz="1200" dirty="0"/>
          </a:p>
        </p:txBody>
      </p:sp>
      <p:cxnSp>
        <p:nvCxnSpPr>
          <p:cNvPr id="46" name="Straight Arrow Connector 45"/>
          <p:cNvCxnSpPr>
            <a:stCxn id="31" idx="2"/>
            <a:endCxn id="49" idx="0"/>
          </p:cNvCxnSpPr>
          <p:nvPr/>
        </p:nvCxnSpPr>
        <p:spPr>
          <a:xfrm>
            <a:off x="10351971" y="4177363"/>
            <a:ext cx="0" cy="52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34888" y="4706754"/>
            <a:ext cx="1434166" cy="962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410" y="4768313"/>
            <a:ext cx="725805" cy="63944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808143" y="5226517"/>
            <a:ext cx="110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Ranked Response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283158" y="5669280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272772" y="5944168"/>
            <a:ext cx="2001520" cy="846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Top 30 recommendation records as a</a:t>
            </a:r>
            <a:endParaRPr lang="en-IN" sz="1200" dirty="0"/>
          </a:p>
          <a:p>
            <a:pPr algn="ctr"/>
            <a:r>
              <a:rPr lang="en-IN" sz="1200" dirty="0"/>
              <a:t>response to the end user</a:t>
            </a:r>
            <a:endParaRPr lang="en-IN" sz="1200" dirty="0"/>
          </a:p>
        </p:txBody>
      </p:sp>
      <p:sp>
        <p:nvSpPr>
          <p:cNvPr id="3" name="Oval 2"/>
          <p:cNvSpPr/>
          <p:nvPr/>
        </p:nvSpPr>
        <p:spPr>
          <a:xfrm>
            <a:off x="3665622" y="2115955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lang="en-IN" dirty="0"/>
          </a:p>
        </p:txBody>
      </p:sp>
      <p:sp>
        <p:nvSpPr>
          <p:cNvPr id="61" name="TextBox 60"/>
          <p:cNvSpPr txBox="1"/>
          <p:nvPr/>
        </p:nvSpPr>
        <p:spPr>
          <a:xfrm>
            <a:off x="5601903" y="3484344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3184360" y="2443213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cxnSp>
        <p:nvCxnSpPr>
          <p:cNvPr id="86" name="Straight Arrow Connector 85"/>
          <p:cNvCxnSpPr>
            <a:stCxn id="19" idx="3"/>
            <a:endCxn id="28" idx="1"/>
          </p:cNvCxnSpPr>
          <p:nvPr/>
        </p:nvCxnSpPr>
        <p:spPr>
          <a:xfrm>
            <a:off x="5486398" y="3883792"/>
            <a:ext cx="712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252" y="125130"/>
            <a:ext cx="6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Recommendation Engine – Filter endpoint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73693" y="644891"/>
            <a:ext cx="2781701" cy="539015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User Inputs through the API using the </a:t>
            </a:r>
            <a:r>
              <a:rPr lang="en-IN" sz="1400" b="1" dirty="0">
                <a:solidFill>
                  <a:schemeClr val="tx1"/>
                </a:solidFill>
              </a:rPr>
              <a:t>Filter endpoint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838425" y="904775"/>
            <a:ext cx="625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9" idx="0"/>
          </p:cNvCxnSpPr>
          <p:nvPr/>
        </p:nvCxnSpPr>
        <p:spPr>
          <a:xfrm flipH="1">
            <a:off x="3792354" y="1203158"/>
            <a:ext cx="14439" cy="52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/>
          <p:cNvSpPr/>
          <p:nvPr/>
        </p:nvSpPr>
        <p:spPr>
          <a:xfrm>
            <a:off x="2098307" y="1732549"/>
            <a:ext cx="3388093" cy="1203156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If the user input (refer to input list table on the left side) values are not equal to empty</a:t>
            </a:r>
            <a:endParaRPr lang="en-IN" sz="1200" dirty="0"/>
          </a:p>
        </p:txBody>
      </p:sp>
      <p:cxnSp>
        <p:nvCxnSpPr>
          <p:cNvPr id="21" name="Straight Arrow Connector 20"/>
          <p:cNvCxnSpPr>
            <a:stCxn id="19" idx="2"/>
            <a:endCxn id="27" idx="0"/>
          </p:cNvCxnSpPr>
          <p:nvPr/>
        </p:nvCxnSpPr>
        <p:spPr>
          <a:xfrm>
            <a:off x="3792354" y="2935705"/>
            <a:ext cx="22458" cy="712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owchart: Decision 26"/>
          <p:cNvSpPr/>
          <p:nvPr/>
        </p:nvSpPr>
        <p:spPr>
          <a:xfrm>
            <a:off x="2106328" y="3647974"/>
            <a:ext cx="3416968" cy="2223436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If the </a:t>
            </a:r>
            <a:r>
              <a:rPr lang="en-IN" sz="1200" b="1" dirty="0"/>
              <a:t>domain</a:t>
            </a:r>
            <a:r>
              <a:rPr lang="en-IN" sz="1200" dirty="0"/>
              <a:t> input</a:t>
            </a:r>
            <a:r>
              <a:rPr lang="en-IN" sz="1200" b="1" dirty="0"/>
              <a:t> </a:t>
            </a:r>
            <a:r>
              <a:rPr lang="en-IN" sz="1200" dirty="0"/>
              <a:t>match with the </a:t>
            </a:r>
            <a:r>
              <a:rPr lang="en-IN" sz="1200" b="1" dirty="0"/>
              <a:t>domain</a:t>
            </a:r>
            <a:r>
              <a:rPr lang="en-IN" sz="1200" dirty="0"/>
              <a:t>, </a:t>
            </a:r>
            <a:r>
              <a:rPr lang="en-IN" sz="1200" b="1" dirty="0"/>
              <a:t>skillset, and Job Description, Industry </a:t>
            </a:r>
            <a:r>
              <a:rPr lang="en-IN" sz="1200" dirty="0"/>
              <a:t>of elk fields and remaining all inputs match with respective fields using the </a:t>
            </a:r>
            <a:r>
              <a:rPr lang="en-IN" sz="1200" b="1" dirty="0"/>
              <a:t>must(AND)</a:t>
            </a:r>
            <a:r>
              <a:rPr lang="en-IN" sz="1200" dirty="0"/>
              <a:t> condition</a:t>
            </a:r>
            <a:endParaRPr lang="en-IN" sz="1200" dirty="0"/>
          </a:p>
        </p:txBody>
      </p:sp>
      <p:sp>
        <p:nvSpPr>
          <p:cNvPr id="28" name="Flowchart: Alternate Process 27"/>
          <p:cNvSpPr/>
          <p:nvPr/>
        </p:nvSpPr>
        <p:spPr>
          <a:xfrm>
            <a:off x="6198670" y="3561346"/>
            <a:ext cx="2348563" cy="644892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Find the minimum distance of locations with the user input location</a:t>
            </a:r>
            <a:endParaRPr lang="en-IN" sz="1200" dirty="0"/>
          </a:p>
        </p:txBody>
      </p:sp>
      <p:cxnSp>
        <p:nvCxnSpPr>
          <p:cNvPr id="30" name="Straight Arrow Connector 29"/>
          <p:cNvCxnSpPr>
            <a:stCxn id="28" idx="3"/>
            <a:endCxn id="31" idx="1"/>
          </p:cNvCxnSpPr>
          <p:nvPr/>
        </p:nvCxnSpPr>
        <p:spPr>
          <a:xfrm>
            <a:off x="8547233" y="3883792"/>
            <a:ext cx="404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8951495" y="3590221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Find the weightage calculation(using the above formula) for each record</a:t>
            </a:r>
            <a:endParaRPr lang="en-IN" sz="1200" dirty="0">
              <a:solidFill>
                <a:schemeClr val="dk1"/>
              </a:solidFill>
            </a:endParaRPr>
          </a:p>
        </p:txBody>
      </p:sp>
      <p:sp>
        <p:nvSpPr>
          <p:cNvPr id="32" name="Speech Bubble: Rectangle with Corners Rounded 31"/>
          <p:cNvSpPr/>
          <p:nvPr/>
        </p:nvSpPr>
        <p:spPr>
          <a:xfrm>
            <a:off x="8142971" y="1809551"/>
            <a:ext cx="3561347" cy="1414914"/>
          </a:xfrm>
          <a:prstGeom prst="wedgeRoundRectCallout">
            <a:avLst>
              <a:gd name="adj1" fmla="val -20833"/>
              <a:gd name="adj2" fmla="val 7406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(Job posting education encoding /User education encoding *15)+(Salary of job posting /Salary of user*20)+(Similar score of vector for user/100*25)+(If the posting location corresponds to the user's preferred location, the location score is 25, otherwise it is 0% using kilometre distance)+(Experience of job posting /Experience of user*15)</a:t>
            </a:r>
            <a:endParaRPr lang="en-IN" sz="1200" dirty="0"/>
          </a:p>
        </p:txBody>
      </p:sp>
      <p:cxnSp>
        <p:nvCxnSpPr>
          <p:cNvPr id="46" name="Straight Arrow Connector 45"/>
          <p:cNvCxnSpPr>
            <a:stCxn id="31" idx="2"/>
            <a:endCxn id="49" idx="0"/>
          </p:cNvCxnSpPr>
          <p:nvPr/>
        </p:nvCxnSpPr>
        <p:spPr>
          <a:xfrm>
            <a:off x="10351971" y="4177363"/>
            <a:ext cx="0" cy="52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34888" y="4706754"/>
            <a:ext cx="1434166" cy="962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410" y="4768313"/>
            <a:ext cx="725805" cy="63944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808143" y="5226517"/>
            <a:ext cx="110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Ranked Response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283158" y="5669280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326880" y="5890661"/>
            <a:ext cx="2024415" cy="86146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Top 30 recommendation records as a</a:t>
            </a:r>
            <a:endParaRPr lang="en-IN" sz="1200" dirty="0"/>
          </a:p>
          <a:p>
            <a:pPr algn="ctr"/>
            <a:r>
              <a:rPr lang="en-IN" sz="1200" dirty="0"/>
              <a:t>response to the end user</a:t>
            </a:r>
            <a:endParaRPr lang="en-IN" sz="1200" dirty="0"/>
          </a:p>
        </p:txBody>
      </p:sp>
      <p:sp>
        <p:nvSpPr>
          <p:cNvPr id="2" name="Oval 1"/>
          <p:cNvSpPr/>
          <p:nvPr/>
        </p:nvSpPr>
        <p:spPr>
          <a:xfrm>
            <a:off x="2069432" y="567891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3309487" y="1374808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  <a:endParaRPr lang="en-IN" dirty="0"/>
          </a:p>
        </p:txBody>
      </p:sp>
      <p:sp>
        <p:nvSpPr>
          <p:cNvPr id="48" name="Oval 47"/>
          <p:cNvSpPr/>
          <p:nvPr/>
        </p:nvSpPr>
        <p:spPr>
          <a:xfrm>
            <a:off x="3365635" y="3115376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IN" dirty="0"/>
          </a:p>
        </p:txBody>
      </p:sp>
      <p:cxnSp>
        <p:nvCxnSpPr>
          <p:cNvPr id="59" name="Connector: Elbow 58"/>
          <p:cNvCxnSpPr>
            <a:stCxn id="27" idx="3"/>
            <a:endCxn id="28" idx="1"/>
          </p:cNvCxnSpPr>
          <p:nvPr/>
        </p:nvCxnSpPr>
        <p:spPr>
          <a:xfrm flipV="1">
            <a:off x="5523296" y="3883792"/>
            <a:ext cx="675374" cy="8759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888607" y="3272588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5407793" y="4089132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866149" y="6099208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sp>
        <p:nvSpPr>
          <p:cNvPr id="10" name="Oval 9"/>
          <p:cNvSpPr/>
          <p:nvPr/>
        </p:nvSpPr>
        <p:spPr>
          <a:xfrm>
            <a:off x="606392" y="5929161"/>
            <a:ext cx="1549668" cy="514953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No records were found response to the user</a:t>
            </a:r>
            <a:endParaRPr lang="en-IN" sz="1000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9133" y="587141"/>
          <a:ext cx="1568918" cy="2800944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308415"/>
                <a:gridCol w="1260503"/>
              </a:tblGrid>
              <a:tr h="1750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User Inputs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Location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Education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Experience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Gender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Domain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6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Skillset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7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Salary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8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languages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9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jobtypes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industries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shifttypes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modeforworks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jobtitles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</a:rPr>
                        <a:t>jobpostedDate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75059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Resume URL = ‘’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cxnSp>
        <p:nvCxnSpPr>
          <p:cNvPr id="39" name="Straight Arrow Connector 38"/>
          <p:cNvCxnSpPr/>
          <p:nvPr/>
        </p:nvCxnSpPr>
        <p:spPr>
          <a:xfrm>
            <a:off x="3805187" y="5871410"/>
            <a:ext cx="16042" cy="56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392907" y="6030227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252" y="125129"/>
            <a:ext cx="661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Recommendation Engine – Filter endpoint 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883796" y="1595386"/>
            <a:ext cx="0" cy="522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/>
          <p:cNvSpPr/>
          <p:nvPr/>
        </p:nvSpPr>
        <p:spPr>
          <a:xfrm>
            <a:off x="2300438" y="2107933"/>
            <a:ext cx="3176335" cy="2762450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If the </a:t>
            </a:r>
            <a:r>
              <a:rPr lang="en-IN" sz="1200" b="1" dirty="0"/>
              <a:t>Skillset</a:t>
            </a:r>
            <a:r>
              <a:rPr lang="en-IN" sz="1200" dirty="0"/>
              <a:t> input</a:t>
            </a:r>
            <a:r>
              <a:rPr lang="en-IN" sz="1200" b="1" dirty="0"/>
              <a:t> </a:t>
            </a:r>
            <a:r>
              <a:rPr lang="en-IN" sz="1200" dirty="0"/>
              <a:t>match with the </a:t>
            </a:r>
            <a:r>
              <a:rPr lang="en-IN" sz="1200" b="1" dirty="0"/>
              <a:t>domain</a:t>
            </a:r>
            <a:r>
              <a:rPr lang="en-IN" sz="1200" dirty="0"/>
              <a:t>, </a:t>
            </a:r>
            <a:r>
              <a:rPr lang="en-IN" sz="1200" b="1" dirty="0"/>
              <a:t>skillset, and Job Description, Industry </a:t>
            </a:r>
            <a:r>
              <a:rPr lang="en-IN" sz="1200" dirty="0"/>
              <a:t>of elk fields and remaining all inputs match with respective fields using the </a:t>
            </a:r>
            <a:r>
              <a:rPr lang="en-IN" sz="1200" b="1" dirty="0"/>
              <a:t>must(AND)</a:t>
            </a:r>
            <a:r>
              <a:rPr lang="en-IN" sz="1200" dirty="0"/>
              <a:t> condition</a:t>
            </a:r>
            <a:endParaRPr lang="en-IN" sz="1200" dirty="0"/>
          </a:p>
        </p:txBody>
      </p:sp>
      <p:sp>
        <p:nvSpPr>
          <p:cNvPr id="28" name="Flowchart: Alternate Process 27"/>
          <p:cNvSpPr/>
          <p:nvPr/>
        </p:nvSpPr>
        <p:spPr>
          <a:xfrm>
            <a:off x="6169794" y="3238900"/>
            <a:ext cx="2348563" cy="644892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Find the minimum distance of locations with the user input location</a:t>
            </a:r>
            <a:endParaRPr lang="en-IN" sz="1200" dirty="0"/>
          </a:p>
        </p:txBody>
      </p:sp>
      <p:cxnSp>
        <p:nvCxnSpPr>
          <p:cNvPr id="30" name="Straight Arrow Connector 29"/>
          <p:cNvCxnSpPr>
            <a:stCxn id="28" idx="3"/>
            <a:endCxn id="31" idx="1"/>
          </p:cNvCxnSpPr>
          <p:nvPr/>
        </p:nvCxnSpPr>
        <p:spPr>
          <a:xfrm flipV="1">
            <a:off x="8518357" y="3551720"/>
            <a:ext cx="433138" cy="9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8951495" y="3258149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Find the weightage calculation(using the above formula) for each record</a:t>
            </a:r>
            <a:endParaRPr lang="en-IN" sz="1200" dirty="0">
              <a:solidFill>
                <a:schemeClr val="dk1"/>
              </a:solidFill>
            </a:endParaRPr>
          </a:p>
        </p:txBody>
      </p:sp>
      <p:sp>
        <p:nvSpPr>
          <p:cNvPr id="32" name="Speech Bubble: Rectangle with Corners Rounded 31"/>
          <p:cNvSpPr/>
          <p:nvPr/>
        </p:nvSpPr>
        <p:spPr>
          <a:xfrm>
            <a:off x="8325850" y="1501542"/>
            <a:ext cx="3561347" cy="1414914"/>
          </a:xfrm>
          <a:prstGeom prst="wedgeRoundRectCallout">
            <a:avLst>
              <a:gd name="adj1" fmla="val -20833"/>
              <a:gd name="adj2" fmla="val 7406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(Job posting education encoding /User education encoding *15)+(Salary of job posting /Salary of user*20)+(Similar score of vector for user/100*25)+(If the posting location corresponds to the user's preferred location, the location score is 25, otherwise it is 0% using kilometre distance)+(Experience of job posting /Experience of user*15)</a:t>
            </a:r>
            <a:endParaRPr lang="en-IN" sz="1200" dirty="0"/>
          </a:p>
        </p:txBody>
      </p:sp>
      <p:cxnSp>
        <p:nvCxnSpPr>
          <p:cNvPr id="46" name="Straight Arrow Connector 45"/>
          <p:cNvCxnSpPr>
            <a:stCxn id="31" idx="2"/>
          </p:cNvCxnSpPr>
          <p:nvPr/>
        </p:nvCxnSpPr>
        <p:spPr>
          <a:xfrm>
            <a:off x="10351971" y="3845291"/>
            <a:ext cx="0" cy="47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92640" y="4331369"/>
            <a:ext cx="1434166" cy="962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286" y="4344801"/>
            <a:ext cx="725805" cy="63944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837019" y="4870382"/>
            <a:ext cx="110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Ranked Response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350535" y="5313146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407526" y="5568782"/>
            <a:ext cx="2001520" cy="846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Top 30 recommendation records as a</a:t>
            </a:r>
            <a:endParaRPr lang="en-IN" sz="1200" dirty="0"/>
          </a:p>
          <a:p>
            <a:pPr algn="ctr"/>
            <a:r>
              <a:rPr lang="en-IN" sz="1200" dirty="0"/>
              <a:t>response to the end user</a:t>
            </a:r>
            <a:endParaRPr lang="en-IN" sz="1200" dirty="0"/>
          </a:p>
        </p:txBody>
      </p:sp>
      <p:sp>
        <p:nvSpPr>
          <p:cNvPr id="3" name="Oval 2"/>
          <p:cNvSpPr/>
          <p:nvPr/>
        </p:nvSpPr>
        <p:spPr>
          <a:xfrm>
            <a:off x="3771499" y="1394060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61" name="TextBox 60"/>
          <p:cNvSpPr txBox="1"/>
          <p:nvPr/>
        </p:nvSpPr>
        <p:spPr>
          <a:xfrm>
            <a:off x="5601903" y="3484344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3424992" y="1759820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cxnSp>
        <p:nvCxnSpPr>
          <p:cNvPr id="86" name="Straight Arrow Connector 85"/>
          <p:cNvCxnSpPr>
            <a:stCxn id="19" idx="3"/>
          </p:cNvCxnSpPr>
          <p:nvPr/>
        </p:nvCxnSpPr>
        <p:spPr>
          <a:xfrm>
            <a:off x="5476773" y="3489158"/>
            <a:ext cx="702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9" idx="2"/>
          </p:cNvCxnSpPr>
          <p:nvPr/>
        </p:nvCxnSpPr>
        <p:spPr>
          <a:xfrm>
            <a:off x="3888606" y="4870383"/>
            <a:ext cx="0" cy="510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060834" y="5380521"/>
            <a:ext cx="1549668" cy="514953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No records were found response to the user</a:t>
            </a:r>
            <a:endParaRPr lang="en-IN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252" y="125130"/>
            <a:ext cx="738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Recommendation Engine – </a:t>
            </a:r>
            <a:r>
              <a:rPr lang="en-IN" dirty="0" err="1">
                <a:solidFill>
                  <a:schemeClr val="bg1"/>
                </a:solidFill>
              </a:rPr>
              <a:t>GETSavedJoblist</a:t>
            </a:r>
            <a:r>
              <a:rPr lang="en-IN" dirty="0">
                <a:solidFill>
                  <a:schemeClr val="bg1"/>
                </a:solidFill>
              </a:rPr>
              <a:t> endpoint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73693" y="644891"/>
            <a:ext cx="2781701" cy="539015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User Input through the API using the </a:t>
            </a:r>
            <a:r>
              <a:rPr lang="en-IN" sz="1400" b="1" dirty="0" err="1">
                <a:solidFill>
                  <a:schemeClr val="tx1"/>
                </a:solidFill>
              </a:rPr>
              <a:t>GetSavedJoblist</a:t>
            </a:r>
            <a:r>
              <a:rPr lang="en-IN" sz="1400" b="1" dirty="0">
                <a:solidFill>
                  <a:schemeClr val="tx1"/>
                </a:solidFill>
              </a:rPr>
              <a:t> endpoint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838425" y="904775"/>
            <a:ext cx="625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9" idx="0"/>
          </p:cNvCxnSpPr>
          <p:nvPr/>
        </p:nvCxnSpPr>
        <p:spPr>
          <a:xfrm flipH="1">
            <a:off x="3792354" y="1203158"/>
            <a:ext cx="14439" cy="52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/>
          <p:cNvSpPr/>
          <p:nvPr/>
        </p:nvSpPr>
        <p:spPr>
          <a:xfrm>
            <a:off x="2098307" y="1732549"/>
            <a:ext cx="3388093" cy="1203156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If Job Number input</a:t>
            </a:r>
            <a:endParaRPr lang="en-IN" sz="1200" dirty="0"/>
          </a:p>
          <a:p>
            <a:pPr algn="ctr"/>
            <a:r>
              <a:rPr lang="en-IN" sz="1200" dirty="0"/>
              <a:t>is not equal to empty</a:t>
            </a:r>
            <a:endParaRPr lang="en-IN" sz="1200" dirty="0"/>
          </a:p>
        </p:txBody>
      </p:sp>
      <p:cxnSp>
        <p:nvCxnSpPr>
          <p:cNvPr id="21" name="Straight Arrow Connector 20"/>
          <p:cNvCxnSpPr>
            <a:stCxn id="19" idx="2"/>
            <a:endCxn id="27" idx="0"/>
          </p:cNvCxnSpPr>
          <p:nvPr/>
        </p:nvCxnSpPr>
        <p:spPr>
          <a:xfrm>
            <a:off x="3792354" y="2935705"/>
            <a:ext cx="22458" cy="712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owchart: Decision 26"/>
          <p:cNvSpPr/>
          <p:nvPr/>
        </p:nvSpPr>
        <p:spPr>
          <a:xfrm>
            <a:off x="2106328" y="3647974"/>
            <a:ext cx="3416968" cy="1482291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If match the Job Numbers with the elk job number </a:t>
            </a:r>
            <a:endParaRPr lang="en-IN" sz="1200" dirty="0"/>
          </a:p>
        </p:txBody>
      </p:sp>
      <p:sp>
        <p:nvSpPr>
          <p:cNvPr id="2" name="Oval 1"/>
          <p:cNvSpPr/>
          <p:nvPr/>
        </p:nvSpPr>
        <p:spPr>
          <a:xfrm>
            <a:off x="2069432" y="567891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3309487" y="1374808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  <a:endParaRPr lang="en-IN" dirty="0"/>
          </a:p>
        </p:txBody>
      </p:sp>
      <p:sp>
        <p:nvSpPr>
          <p:cNvPr id="48" name="Oval 47"/>
          <p:cNvSpPr/>
          <p:nvPr/>
        </p:nvSpPr>
        <p:spPr>
          <a:xfrm>
            <a:off x="3365635" y="3115376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IN" dirty="0"/>
          </a:p>
        </p:txBody>
      </p:sp>
      <p:sp>
        <p:nvSpPr>
          <p:cNvPr id="61" name="TextBox 60"/>
          <p:cNvSpPr txBox="1"/>
          <p:nvPr/>
        </p:nvSpPr>
        <p:spPr>
          <a:xfrm>
            <a:off x="3888607" y="3272588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3805186" y="5130264"/>
            <a:ext cx="16042" cy="56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402532" y="5279457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52387" y="731520"/>
            <a:ext cx="1366788" cy="413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Job Numbers</a:t>
            </a:r>
            <a:endParaRPr lang="en-IN" sz="1200" dirty="0"/>
          </a:p>
        </p:txBody>
      </p:sp>
      <p:sp>
        <p:nvSpPr>
          <p:cNvPr id="7" name="Oval 6"/>
          <p:cNvSpPr/>
          <p:nvPr/>
        </p:nvSpPr>
        <p:spPr>
          <a:xfrm>
            <a:off x="5890661" y="2079056"/>
            <a:ext cx="1549668" cy="514953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No records were found response to the user</a:t>
            </a:r>
            <a:endParaRPr lang="en-IN" sz="1000" dirty="0"/>
          </a:p>
        </p:txBody>
      </p:sp>
      <p:cxnSp>
        <p:nvCxnSpPr>
          <p:cNvPr id="11" name="Straight Arrow Connector 10"/>
          <p:cNvCxnSpPr>
            <a:stCxn id="19" idx="3"/>
            <a:endCxn id="7" idx="2"/>
          </p:cNvCxnSpPr>
          <p:nvPr/>
        </p:nvCxnSpPr>
        <p:spPr>
          <a:xfrm>
            <a:off x="5486400" y="2334127"/>
            <a:ext cx="404261" cy="2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25504" y="5196036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504047" y="4401954"/>
            <a:ext cx="404261" cy="2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889057" y="4127633"/>
            <a:ext cx="1549668" cy="514953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No records were found response to the user</a:t>
            </a:r>
            <a:endParaRPr lang="en-IN" sz="1000" dirty="0"/>
          </a:p>
        </p:txBody>
      </p:sp>
      <p:sp>
        <p:nvSpPr>
          <p:cNvPr id="25" name="Oval 24"/>
          <p:cNvSpPr/>
          <p:nvPr/>
        </p:nvSpPr>
        <p:spPr>
          <a:xfrm>
            <a:off x="3115377" y="5694946"/>
            <a:ext cx="1549668" cy="821357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Job number with additional fields response to the user</a:t>
            </a:r>
            <a:endParaRPr lang="en-IN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260068" y="403553"/>
            <a:ext cx="2187019" cy="78467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user input through API using any </a:t>
            </a:r>
            <a:r>
              <a:rPr lang="en-IN" sz="1200" dirty="0" err="1">
                <a:solidFill>
                  <a:schemeClr val="tx1"/>
                </a:solidFill>
              </a:rPr>
              <a:t>freetext</a:t>
            </a:r>
            <a:r>
              <a:rPr lang="en-IN" sz="1200" dirty="0">
                <a:solidFill>
                  <a:schemeClr val="tx1"/>
                </a:solidFill>
              </a:rPr>
              <a:t> endpoint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1531" y="377297"/>
            <a:ext cx="1508288" cy="8389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Enter the free text as sentence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7" idx="3"/>
            <a:endCxn id="5" idx="1"/>
          </p:cNvCxnSpPr>
          <p:nvPr/>
        </p:nvCxnSpPr>
        <p:spPr>
          <a:xfrm flipV="1">
            <a:off x="1729819" y="795890"/>
            <a:ext cx="530249" cy="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470581" y="1515598"/>
            <a:ext cx="3755937" cy="12661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1.Extract job title, job domain, skills, </a:t>
            </a:r>
            <a:r>
              <a:rPr lang="en-IN" sz="1200" dirty="0" err="1">
                <a:solidFill>
                  <a:schemeClr val="tx1"/>
                </a:solidFill>
              </a:rPr>
              <a:t>workmode</a:t>
            </a:r>
            <a:r>
              <a:rPr lang="en-IN" sz="1200" dirty="0">
                <a:solidFill>
                  <a:schemeClr val="tx1"/>
                </a:solidFill>
              </a:rPr>
              <a:t> info from input text using list of resp. column values from elk db.</a:t>
            </a:r>
            <a:br>
              <a:rPr lang="en-IN" sz="1200" dirty="0">
                <a:solidFill>
                  <a:schemeClr val="tx1"/>
                </a:solidFill>
              </a:rPr>
            </a:br>
            <a:r>
              <a:rPr lang="en-IN" sz="1200" dirty="0">
                <a:solidFill>
                  <a:schemeClr val="tx1"/>
                </a:solidFill>
              </a:rPr>
              <a:t> 2. Extract location, gender from input text using </a:t>
            </a:r>
            <a:r>
              <a:rPr lang="en-IN" sz="1200" dirty="0" err="1">
                <a:solidFill>
                  <a:schemeClr val="tx1"/>
                </a:solidFill>
              </a:rPr>
              <a:t>nlp</a:t>
            </a:r>
            <a:r>
              <a:rPr lang="en-IN" sz="1200" dirty="0">
                <a:solidFill>
                  <a:schemeClr val="tx1"/>
                </a:solidFill>
              </a:rPr>
              <a:t> regex.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5" idx="2"/>
            <a:endCxn id="12" idx="0"/>
          </p:cNvCxnSpPr>
          <p:nvPr/>
        </p:nvCxnSpPr>
        <p:spPr>
          <a:xfrm flipH="1">
            <a:off x="3348550" y="1188226"/>
            <a:ext cx="5028" cy="327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2" idx="2"/>
          </p:cNvCxnSpPr>
          <p:nvPr/>
        </p:nvCxnSpPr>
        <p:spPr>
          <a:xfrm>
            <a:off x="3348550" y="2781702"/>
            <a:ext cx="7392" cy="72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120579" y="3782729"/>
            <a:ext cx="2066251" cy="15689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Form a query based on extracted job title, job domain, location, work mode and gender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0" name="Diamond 29"/>
          <p:cNvSpPr/>
          <p:nvPr/>
        </p:nvSpPr>
        <p:spPr>
          <a:xfrm>
            <a:off x="1867300" y="3500292"/>
            <a:ext cx="2982290" cy="2135543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If match </a:t>
            </a:r>
            <a:r>
              <a:rPr lang="en-IN" sz="1200" b="1" dirty="0">
                <a:solidFill>
                  <a:schemeClr val="tx1"/>
                </a:solidFill>
              </a:rPr>
              <a:t>job title, job domain, skills, work mode, location, and gender </a:t>
            </a:r>
            <a:r>
              <a:rPr lang="en-IN" sz="1200" dirty="0">
                <a:solidFill>
                  <a:schemeClr val="tx1"/>
                </a:solidFill>
              </a:rPr>
              <a:t>with the elk’s respective fields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71756" y="4118057"/>
            <a:ext cx="532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  <a:endParaRPr lang="en-IN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3497344" y="5662035"/>
            <a:ext cx="461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  <a:endParaRPr lang="en-IN" sz="1200" dirty="0"/>
          </a:p>
        </p:txBody>
      </p:sp>
      <p:sp>
        <p:nvSpPr>
          <p:cNvPr id="50" name="Rectangle 49"/>
          <p:cNvSpPr/>
          <p:nvPr/>
        </p:nvSpPr>
        <p:spPr>
          <a:xfrm>
            <a:off x="9109071" y="4085865"/>
            <a:ext cx="2073897" cy="9258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Response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1" name="Elbow Connector 60"/>
          <p:cNvCxnSpPr>
            <a:stCxn id="30" idx="3"/>
            <a:endCxn id="25" idx="1"/>
          </p:cNvCxnSpPr>
          <p:nvPr/>
        </p:nvCxnSpPr>
        <p:spPr>
          <a:xfrm flipV="1">
            <a:off x="4849590" y="4567188"/>
            <a:ext cx="1270989" cy="8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9061938" y="5304594"/>
            <a:ext cx="2168165" cy="11635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Top 30 records as response to the end user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4" name="Straight Arrow Connector 63"/>
          <p:cNvCxnSpPr>
            <a:stCxn id="50" idx="2"/>
            <a:endCxn id="62" idx="0"/>
          </p:cNvCxnSpPr>
          <p:nvPr/>
        </p:nvCxnSpPr>
        <p:spPr>
          <a:xfrm>
            <a:off x="10146020" y="5011760"/>
            <a:ext cx="1" cy="292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30" idx="2"/>
          </p:cNvCxnSpPr>
          <p:nvPr/>
        </p:nvCxnSpPr>
        <p:spPr>
          <a:xfrm>
            <a:off x="3358445" y="5635835"/>
            <a:ext cx="0" cy="67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25" idx="3"/>
            <a:endCxn id="50" idx="1"/>
          </p:cNvCxnSpPr>
          <p:nvPr/>
        </p:nvCxnSpPr>
        <p:spPr>
          <a:xfrm flipV="1">
            <a:off x="8186830" y="4548813"/>
            <a:ext cx="922241" cy="18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113122" y="68599"/>
            <a:ext cx="11353014" cy="2742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bg1"/>
                </a:solidFill>
              </a:rPr>
              <a:t>Business Logic: pillar 1 Job </a:t>
            </a:r>
            <a:r>
              <a:rPr lang="en-IN" dirty="0" err="1">
                <a:solidFill>
                  <a:schemeClr val="bg1"/>
                </a:solidFill>
              </a:rPr>
              <a:t>freetext</a:t>
            </a:r>
            <a:r>
              <a:rPr lang="en-IN" dirty="0">
                <a:solidFill>
                  <a:schemeClr val="bg1"/>
                </a:solidFill>
              </a:rPr>
              <a:t>   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2976257" y="5695728"/>
            <a:ext cx="273377" cy="2498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1858255" y="823241"/>
            <a:ext cx="273377" cy="2498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2978182" y="3118208"/>
            <a:ext cx="273377" cy="2498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2935522" y="1205498"/>
            <a:ext cx="273377" cy="2498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252" y="125129"/>
            <a:ext cx="752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Recommendation Engine – </a:t>
            </a:r>
            <a:r>
              <a:rPr lang="en-IN" dirty="0" err="1">
                <a:solidFill>
                  <a:schemeClr val="bg1"/>
                </a:solidFill>
              </a:rPr>
              <a:t>CandiateReco</a:t>
            </a:r>
            <a:r>
              <a:rPr lang="en-IN" dirty="0">
                <a:solidFill>
                  <a:schemeClr val="bg1"/>
                </a:solidFill>
              </a:rPr>
              <a:t>  endpoint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73694" y="644891"/>
            <a:ext cx="2777814" cy="535127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User Inputs through the API using the </a:t>
            </a:r>
            <a:r>
              <a:rPr lang="en-IN" sz="1400" b="1" dirty="0" err="1">
                <a:solidFill>
                  <a:schemeClr val="tx1"/>
                </a:solidFill>
              </a:rPr>
              <a:t>CandidateReco</a:t>
            </a:r>
            <a:r>
              <a:rPr lang="en-IN" sz="1400" b="1" dirty="0">
                <a:solidFill>
                  <a:schemeClr val="tx1"/>
                </a:solidFill>
              </a:rPr>
              <a:t> endpoint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838425" y="904775"/>
            <a:ext cx="625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/>
          <p:cNvSpPr/>
          <p:nvPr/>
        </p:nvSpPr>
        <p:spPr>
          <a:xfrm>
            <a:off x="1856119" y="1462763"/>
            <a:ext cx="3853266" cy="2337542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1100" dirty="0"/>
              <a:t>If match </a:t>
            </a:r>
            <a:r>
              <a:rPr lang="en-IN" sz="1100" b="1" dirty="0"/>
              <a:t>Job domain, Job skills, Job address, Job education, Job experience, Job gender, active </a:t>
            </a:r>
            <a:r>
              <a:rPr lang="en-IN" sz="1100" dirty="0"/>
              <a:t>with the elk index records using  </a:t>
            </a:r>
            <a:r>
              <a:rPr lang="en-IN" sz="1100" b="1" dirty="0"/>
              <a:t>must(AND) </a:t>
            </a:r>
            <a:r>
              <a:rPr lang="en-IN" sz="1100" dirty="0"/>
              <a:t>condition remaining are used in the         </a:t>
            </a:r>
            <a:r>
              <a:rPr lang="en-IN" sz="1100" b="1" dirty="0"/>
              <a:t>should(OR)</a:t>
            </a:r>
            <a:r>
              <a:rPr lang="en-IN" sz="1100" dirty="0"/>
              <a:t> condition</a:t>
            </a:r>
            <a:endParaRPr lang="en-IN" sz="1100" dirty="0"/>
          </a:p>
        </p:txBody>
      </p:sp>
      <p:sp>
        <p:nvSpPr>
          <p:cNvPr id="27" name="Flowchart: Decision 26"/>
          <p:cNvSpPr/>
          <p:nvPr/>
        </p:nvSpPr>
        <p:spPr>
          <a:xfrm>
            <a:off x="1838425" y="4108151"/>
            <a:ext cx="3935126" cy="2498577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1200" dirty="0"/>
              <a:t> If match </a:t>
            </a:r>
            <a:r>
              <a:rPr lang="en-IN" sz="1200" b="1" dirty="0"/>
              <a:t>Job domain, Job skills, Job education, Job experience, Job gender, active </a:t>
            </a:r>
            <a:r>
              <a:rPr lang="en-IN" sz="1200" dirty="0"/>
              <a:t>with the elk index records using </a:t>
            </a:r>
            <a:r>
              <a:rPr lang="en-IN" sz="1200" b="1" dirty="0"/>
              <a:t>must(AND) </a:t>
            </a:r>
            <a:r>
              <a:rPr lang="en-IN" sz="1200" dirty="0"/>
              <a:t>condition remaining are used in the     </a:t>
            </a:r>
            <a:r>
              <a:rPr lang="en-IN" sz="1200" b="1" dirty="0"/>
              <a:t>should(OR)                           </a:t>
            </a:r>
            <a:r>
              <a:rPr lang="en-IN" sz="1200" dirty="0"/>
              <a:t>condition</a:t>
            </a:r>
            <a:endParaRPr lang="en-IN" sz="1200" dirty="0"/>
          </a:p>
        </p:txBody>
      </p:sp>
      <p:sp>
        <p:nvSpPr>
          <p:cNvPr id="28" name="Flowchart: Alternate Process 27"/>
          <p:cNvSpPr/>
          <p:nvPr/>
        </p:nvSpPr>
        <p:spPr>
          <a:xfrm>
            <a:off x="6198670" y="3561346"/>
            <a:ext cx="2348563" cy="644892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Find the minimum distance of locations with the Job location</a:t>
            </a:r>
            <a:endParaRPr lang="en-IN" sz="1200" dirty="0"/>
          </a:p>
        </p:txBody>
      </p:sp>
      <p:cxnSp>
        <p:nvCxnSpPr>
          <p:cNvPr id="30" name="Straight Arrow Connector 29"/>
          <p:cNvCxnSpPr>
            <a:stCxn id="28" idx="3"/>
            <a:endCxn id="31" idx="1"/>
          </p:cNvCxnSpPr>
          <p:nvPr/>
        </p:nvCxnSpPr>
        <p:spPr>
          <a:xfrm>
            <a:off x="8547233" y="3883792"/>
            <a:ext cx="404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8951495" y="3590221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Find the weightage calculation(using the above formula) for each record</a:t>
            </a:r>
            <a:endParaRPr lang="en-IN" sz="1200" dirty="0">
              <a:solidFill>
                <a:schemeClr val="dk1"/>
              </a:solidFill>
            </a:endParaRPr>
          </a:p>
        </p:txBody>
      </p:sp>
      <p:sp>
        <p:nvSpPr>
          <p:cNvPr id="32" name="Speech Bubble: Rectangle with Corners Rounded 31"/>
          <p:cNvSpPr/>
          <p:nvPr/>
        </p:nvSpPr>
        <p:spPr>
          <a:xfrm>
            <a:off x="8142971" y="2038525"/>
            <a:ext cx="3561347" cy="1185939"/>
          </a:xfrm>
          <a:prstGeom prst="wedgeRoundRectCallout">
            <a:avLst>
              <a:gd name="adj1" fmla="val -20833"/>
              <a:gd name="adj2" fmla="val 7406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Final Weighted Score =  (Job domain encoding *0.16 +Job skill encoding  *0.16 + Education encoding * 0.16 + Job Experience encoding * 0.16 + </a:t>
            </a:r>
            <a:r>
              <a:rPr lang="en-US" sz="1200" dirty="0"/>
              <a:t>Job Salary * 0.10+ Gender  * 0.05 + </a:t>
            </a:r>
            <a:r>
              <a:rPr lang="pt-BR" sz="1200" dirty="0"/>
              <a:t>minimum location distance * 0.05) * 100</a:t>
            </a:r>
            <a:endParaRPr lang="en-IN" sz="1200" dirty="0"/>
          </a:p>
        </p:txBody>
      </p:sp>
      <p:cxnSp>
        <p:nvCxnSpPr>
          <p:cNvPr id="46" name="Straight Arrow Connector 45"/>
          <p:cNvCxnSpPr>
            <a:stCxn id="31" idx="2"/>
            <a:endCxn id="49" idx="0"/>
          </p:cNvCxnSpPr>
          <p:nvPr/>
        </p:nvCxnSpPr>
        <p:spPr>
          <a:xfrm>
            <a:off x="10351971" y="4177363"/>
            <a:ext cx="0" cy="52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34888" y="4706754"/>
            <a:ext cx="1434166" cy="962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410" y="4768313"/>
            <a:ext cx="725805" cy="63944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808143" y="5226517"/>
            <a:ext cx="110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Ranked Response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283158" y="5669280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326880" y="5890661"/>
            <a:ext cx="2024415" cy="86146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Top recommendation records as a</a:t>
            </a:r>
            <a:endParaRPr lang="en-IN" sz="1200" dirty="0"/>
          </a:p>
          <a:p>
            <a:pPr algn="ctr"/>
            <a:r>
              <a:rPr lang="en-IN" sz="1200" dirty="0"/>
              <a:t>response to the end user</a:t>
            </a:r>
            <a:endParaRPr lang="en-IN" sz="1200" dirty="0"/>
          </a:p>
        </p:txBody>
      </p:sp>
      <p:sp>
        <p:nvSpPr>
          <p:cNvPr id="2" name="Oval 1"/>
          <p:cNvSpPr/>
          <p:nvPr/>
        </p:nvSpPr>
        <p:spPr>
          <a:xfrm>
            <a:off x="2069432" y="567891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3436243" y="1244785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  <a:endParaRPr lang="en-IN" dirty="0"/>
          </a:p>
        </p:txBody>
      </p:sp>
      <p:sp>
        <p:nvSpPr>
          <p:cNvPr id="48" name="Oval 47"/>
          <p:cNvSpPr/>
          <p:nvPr/>
        </p:nvSpPr>
        <p:spPr>
          <a:xfrm>
            <a:off x="3356811" y="3902920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IN" dirty="0"/>
          </a:p>
        </p:txBody>
      </p:sp>
      <p:cxnSp>
        <p:nvCxnSpPr>
          <p:cNvPr id="57" name="Connector: Elbow 56"/>
          <p:cNvCxnSpPr>
            <a:stCxn id="19" idx="3"/>
            <a:endCxn id="28" idx="0"/>
          </p:cNvCxnSpPr>
          <p:nvPr/>
        </p:nvCxnSpPr>
        <p:spPr>
          <a:xfrm>
            <a:off x="5709385" y="2631534"/>
            <a:ext cx="1663567" cy="9298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/>
          <p:cNvCxnSpPr>
            <a:stCxn id="27" idx="3"/>
            <a:endCxn id="28" idx="2"/>
          </p:cNvCxnSpPr>
          <p:nvPr/>
        </p:nvCxnSpPr>
        <p:spPr>
          <a:xfrm flipV="1">
            <a:off x="5773551" y="4206238"/>
            <a:ext cx="1599401" cy="11512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051982" y="2274713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5927557" y="4859153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77" name="Oval 76"/>
          <p:cNvSpPr/>
          <p:nvPr/>
        </p:nvSpPr>
        <p:spPr>
          <a:xfrm>
            <a:off x="3356811" y="6606728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879938" y="3869586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801678" y="6607856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539015"/>
          <a:ext cx="1673239" cy="3388866"/>
        </p:xfrm>
        <a:graphic>
          <a:graphicData uri="http://schemas.openxmlformats.org/drawingml/2006/table">
            <a:tbl>
              <a:tblPr/>
              <a:tblGrid>
                <a:gridCol w="273050"/>
                <a:gridCol w="1400189"/>
              </a:tblGrid>
              <a:tr h="2662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PEId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4328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User Inputs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4328">
                        <a:lumMod val="50000"/>
                      </a:srgbClr>
                    </a:solidFill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title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79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domain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type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address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description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education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Job skills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56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gender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56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salary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56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addinfo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56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Job experience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71" name="Straight Arrow Connector 70"/>
          <p:cNvCxnSpPr/>
          <p:nvPr/>
        </p:nvCxnSpPr>
        <p:spPr>
          <a:xfrm>
            <a:off x="2473693" y="1183906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endCxn id="19" idx="0"/>
          </p:cNvCxnSpPr>
          <p:nvPr/>
        </p:nvCxnSpPr>
        <p:spPr>
          <a:xfrm>
            <a:off x="3773527" y="1179948"/>
            <a:ext cx="9225" cy="28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3801678" y="3800375"/>
            <a:ext cx="378" cy="28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>
            <a:off x="3770946" y="6620338"/>
            <a:ext cx="378" cy="28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1641" y="125129"/>
            <a:ext cx="710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Recommendation Engine – </a:t>
            </a:r>
            <a:r>
              <a:rPr lang="en-IN" dirty="0" err="1">
                <a:solidFill>
                  <a:schemeClr val="bg1"/>
                </a:solidFill>
              </a:rPr>
              <a:t>CandiateReco</a:t>
            </a:r>
            <a:r>
              <a:rPr lang="en-IN" dirty="0">
                <a:solidFill>
                  <a:schemeClr val="bg1"/>
                </a:solidFill>
              </a:rPr>
              <a:t> endpoint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3145737" y="624039"/>
            <a:ext cx="9628" cy="693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/>
          <p:cNvSpPr/>
          <p:nvPr/>
        </p:nvSpPr>
        <p:spPr>
          <a:xfrm>
            <a:off x="882083" y="1305001"/>
            <a:ext cx="4546564" cy="2506602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1200" dirty="0"/>
              <a:t>If match </a:t>
            </a:r>
            <a:r>
              <a:rPr lang="en-IN" sz="1200" b="1" dirty="0"/>
              <a:t>Job domain, Job skills,</a:t>
            </a:r>
            <a:endParaRPr lang="en-IN" sz="1200" b="1" dirty="0"/>
          </a:p>
          <a:p>
            <a:pPr algn="just"/>
            <a:r>
              <a:rPr lang="en-IN" sz="1200" b="1" dirty="0"/>
              <a:t>Job education, Job experience, active </a:t>
            </a:r>
            <a:r>
              <a:rPr lang="en-IN" sz="1200" dirty="0"/>
              <a:t>with the elk index records using the </a:t>
            </a:r>
            <a:r>
              <a:rPr lang="en-IN" sz="1200" b="1" dirty="0"/>
              <a:t>must(AND) </a:t>
            </a:r>
            <a:r>
              <a:rPr lang="en-IN" sz="1200" dirty="0"/>
              <a:t>condition remaining all fields are used in the </a:t>
            </a:r>
            <a:r>
              <a:rPr lang="en-IN" sz="1200" b="1" dirty="0"/>
              <a:t>should(OR) </a:t>
            </a:r>
            <a:r>
              <a:rPr lang="en-IN" sz="1200" dirty="0"/>
              <a:t>condition    </a:t>
            </a:r>
            <a:endParaRPr lang="en-IN" sz="1200" dirty="0"/>
          </a:p>
          <a:p>
            <a:pPr algn="just"/>
            <a:endParaRPr lang="en-IN" sz="1200" dirty="0"/>
          </a:p>
        </p:txBody>
      </p:sp>
      <p:cxnSp>
        <p:nvCxnSpPr>
          <p:cNvPr id="21" name="Straight Arrow Connector 20"/>
          <p:cNvCxnSpPr>
            <a:stCxn id="19" idx="2"/>
            <a:endCxn id="27" idx="0"/>
          </p:cNvCxnSpPr>
          <p:nvPr/>
        </p:nvCxnSpPr>
        <p:spPr>
          <a:xfrm>
            <a:off x="3155365" y="3811603"/>
            <a:ext cx="4011" cy="344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owchart: Decision 26"/>
          <p:cNvSpPr/>
          <p:nvPr/>
        </p:nvSpPr>
        <p:spPr>
          <a:xfrm>
            <a:off x="882083" y="4156508"/>
            <a:ext cx="4554586" cy="1994034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1200" dirty="0"/>
              <a:t>If match </a:t>
            </a:r>
            <a:r>
              <a:rPr lang="en-IN" sz="1200" b="1" dirty="0"/>
              <a:t>Job domain, Job skills,</a:t>
            </a:r>
            <a:endParaRPr lang="en-IN" sz="1200" b="1" dirty="0"/>
          </a:p>
          <a:p>
            <a:pPr algn="just"/>
            <a:r>
              <a:rPr lang="en-IN" sz="1200" b="1" dirty="0"/>
              <a:t>Job education, Job active </a:t>
            </a:r>
            <a:r>
              <a:rPr lang="en-IN" sz="1200" dirty="0"/>
              <a:t>with the elk index records using the </a:t>
            </a:r>
            <a:r>
              <a:rPr lang="en-IN" sz="1200" b="1" dirty="0"/>
              <a:t>must(AND) </a:t>
            </a:r>
            <a:r>
              <a:rPr lang="en-IN" sz="1200" dirty="0"/>
              <a:t>condition remaining all fields are used in the </a:t>
            </a:r>
            <a:r>
              <a:rPr lang="en-IN" sz="1200" b="1" dirty="0"/>
              <a:t>should(OR) </a:t>
            </a:r>
            <a:r>
              <a:rPr lang="en-IN" sz="1200" dirty="0"/>
              <a:t>condition    </a:t>
            </a:r>
            <a:endParaRPr lang="en-IN" sz="1200" dirty="0"/>
          </a:p>
        </p:txBody>
      </p:sp>
      <p:sp>
        <p:nvSpPr>
          <p:cNvPr id="28" name="Flowchart: Alternate Process 27"/>
          <p:cNvSpPr/>
          <p:nvPr/>
        </p:nvSpPr>
        <p:spPr>
          <a:xfrm>
            <a:off x="6198670" y="3561346"/>
            <a:ext cx="2348563" cy="644892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Find the minimum distance of locations with the Job location</a:t>
            </a:r>
            <a:endParaRPr lang="en-IN" sz="1200" dirty="0"/>
          </a:p>
        </p:txBody>
      </p:sp>
      <p:cxnSp>
        <p:nvCxnSpPr>
          <p:cNvPr id="30" name="Straight Arrow Connector 29"/>
          <p:cNvCxnSpPr>
            <a:stCxn id="28" idx="3"/>
            <a:endCxn id="31" idx="1"/>
          </p:cNvCxnSpPr>
          <p:nvPr/>
        </p:nvCxnSpPr>
        <p:spPr>
          <a:xfrm>
            <a:off x="8547233" y="3883792"/>
            <a:ext cx="404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8951495" y="3590221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Find the weightage calculation(using the above formula) for each record</a:t>
            </a:r>
            <a:endParaRPr lang="en-IN" sz="1200" dirty="0">
              <a:solidFill>
                <a:schemeClr val="dk1"/>
              </a:solidFill>
            </a:endParaRPr>
          </a:p>
        </p:txBody>
      </p:sp>
      <p:sp>
        <p:nvSpPr>
          <p:cNvPr id="32" name="Speech Bubble: Rectangle with Corners Rounded 31"/>
          <p:cNvSpPr/>
          <p:nvPr/>
        </p:nvSpPr>
        <p:spPr>
          <a:xfrm>
            <a:off x="8142971" y="2080469"/>
            <a:ext cx="3561347" cy="1143995"/>
          </a:xfrm>
          <a:prstGeom prst="wedgeRoundRectCallout">
            <a:avLst>
              <a:gd name="adj1" fmla="val -20833"/>
              <a:gd name="adj2" fmla="val 7406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Final Weighted Score =  (Job domain encoding *0.16 +Job skill encoding  *0.16 + Education encoding * 0.16 + Job Experience encoding * 0.16 + </a:t>
            </a:r>
            <a:r>
              <a:rPr lang="en-US" sz="1200" dirty="0"/>
              <a:t>Job Salary * 0.10+ Gender  * 0.05 + </a:t>
            </a:r>
            <a:r>
              <a:rPr lang="pt-BR" sz="1200" dirty="0"/>
              <a:t>minimum location distance * 0.05) *100</a:t>
            </a:r>
            <a:endParaRPr lang="en-IN" sz="1200" dirty="0"/>
          </a:p>
          <a:p>
            <a:pPr algn="ctr"/>
            <a:endParaRPr lang="en-IN" sz="1200" dirty="0"/>
          </a:p>
        </p:txBody>
      </p:sp>
      <p:cxnSp>
        <p:nvCxnSpPr>
          <p:cNvPr id="46" name="Straight Arrow Connector 45"/>
          <p:cNvCxnSpPr>
            <a:stCxn id="31" idx="2"/>
            <a:endCxn id="49" idx="0"/>
          </p:cNvCxnSpPr>
          <p:nvPr/>
        </p:nvCxnSpPr>
        <p:spPr>
          <a:xfrm>
            <a:off x="10351971" y="4177363"/>
            <a:ext cx="0" cy="52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34888" y="4706754"/>
            <a:ext cx="1434166" cy="962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410" y="4768313"/>
            <a:ext cx="725805" cy="63944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808143" y="5226517"/>
            <a:ext cx="110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Ranked Response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283158" y="5669280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272772" y="5944168"/>
            <a:ext cx="2001520" cy="9138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Top recommendation records as a</a:t>
            </a:r>
            <a:endParaRPr lang="en-IN" sz="1200" dirty="0"/>
          </a:p>
          <a:p>
            <a:pPr algn="ctr"/>
            <a:r>
              <a:rPr lang="en-IN" sz="1200" dirty="0"/>
              <a:t>response to the end user</a:t>
            </a:r>
            <a:endParaRPr lang="en-IN" sz="1200" dirty="0"/>
          </a:p>
        </p:txBody>
      </p:sp>
      <p:cxnSp>
        <p:nvCxnSpPr>
          <p:cNvPr id="66" name="Straight Arrow Connector 65"/>
          <p:cNvCxnSpPr>
            <a:stCxn id="27" idx="2"/>
          </p:cNvCxnSpPr>
          <p:nvPr/>
        </p:nvCxnSpPr>
        <p:spPr>
          <a:xfrm>
            <a:off x="3159376" y="6150542"/>
            <a:ext cx="13754" cy="707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2767704" y="808523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48" name="Oval 47"/>
          <p:cNvSpPr/>
          <p:nvPr/>
        </p:nvSpPr>
        <p:spPr>
          <a:xfrm>
            <a:off x="2722228" y="3912424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  <a:endParaRPr lang="en-IN" dirty="0"/>
          </a:p>
        </p:txBody>
      </p:sp>
      <p:cxnSp>
        <p:nvCxnSpPr>
          <p:cNvPr id="57" name="Connector: Elbow 56"/>
          <p:cNvCxnSpPr>
            <a:stCxn id="19" idx="3"/>
            <a:endCxn id="28" idx="0"/>
          </p:cNvCxnSpPr>
          <p:nvPr/>
        </p:nvCxnSpPr>
        <p:spPr>
          <a:xfrm>
            <a:off x="5428647" y="2558302"/>
            <a:ext cx="1944305" cy="10030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/>
          <p:cNvCxnSpPr>
            <a:stCxn id="27" idx="3"/>
            <a:endCxn id="28" idx="2"/>
          </p:cNvCxnSpPr>
          <p:nvPr/>
        </p:nvCxnSpPr>
        <p:spPr>
          <a:xfrm flipV="1">
            <a:off x="5436669" y="4206238"/>
            <a:ext cx="1936283" cy="9472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073541" y="2569944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5927557" y="4859153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3117785" y="729436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3183921" y="3758535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3231433" y="6367533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sp>
        <p:nvSpPr>
          <p:cNvPr id="14" name="Oval 13"/>
          <p:cNvSpPr/>
          <p:nvPr/>
        </p:nvSpPr>
        <p:spPr>
          <a:xfrm>
            <a:off x="2762947" y="6559617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3628" y="123957"/>
            <a:ext cx="703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Recommendation Engine </a:t>
            </a:r>
            <a:r>
              <a:rPr lang="en-IN" dirty="0" err="1">
                <a:solidFill>
                  <a:schemeClr val="bg1"/>
                </a:solidFill>
              </a:rPr>
              <a:t>CandiateReco</a:t>
            </a:r>
            <a:r>
              <a:rPr lang="en-IN" dirty="0">
                <a:solidFill>
                  <a:schemeClr val="bg1"/>
                </a:solidFill>
              </a:rPr>
              <a:t> endpoint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3145737" y="624039"/>
            <a:ext cx="9628" cy="693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/>
          <p:cNvSpPr/>
          <p:nvPr/>
        </p:nvSpPr>
        <p:spPr>
          <a:xfrm>
            <a:off x="882083" y="1305001"/>
            <a:ext cx="4546564" cy="2506602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If match </a:t>
            </a:r>
            <a:r>
              <a:rPr lang="en-IN" sz="1200" b="1" dirty="0"/>
              <a:t>Job domain, Job skills,</a:t>
            </a:r>
            <a:endParaRPr lang="en-IN" sz="1200" b="1" dirty="0"/>
          </a:p>
          <a:p>
            <a:pPr algn="ctr"/>
            <a:r>
              <a:rPr lang="en-IN" sz="1200" b="1" dirty="0"/>
              <a:t>Job education </a:t>
            </a:r>
            <a:r>
              <a:rPr lang="en-IN" sz="1200" dirty="0"/>
              <a:t>with the elk index records using the </a:t>
            </a:r>
            <a:r>
              <a:rPr lang="en-IN" sz="1200" b="1" dirty="0"/>
              <a:t>must(AND) </a:t>
            </a:r>
            <a:r>
              <a:rPr lang="en-IN" sz="1200" dirty="0"/>
              <a:t>condition remaining all fields are used in the </a:t>
            </a:r>
            <a:r>
              <a:rPr lang="en-IN" sz="1200" b="1" dirty="0"/>
              <a:t>should(OR) </a:t>
            </a:r>
            <a:r>
              <a:rPr lang="en-IN" sz="1200" dirty="0"/>
              <a:t>condition    </a:t>
            </a:r>
            <a:endParaRPr lang="en-IN" sz="1200" dirty="0"/>
          </a:p>
          <a:p>
            <a:pPr algn="just"/>
            <a:endParaRPr lang="en-IN" sz="1200" dirty="0"/>
          </a:p>
        </p:txBody>
      </p:sp>
      <p:cxnSp>
        <p:nvCxnSpPr>
          <p:cNvPr id="21" name="Straight Arrow Connector 20"/>
          <p:cNvCxnSpPr>
            <a:stCxn id="19" idx="2"/>
            <a:endCxn id="27" idx="0"/>
          </p:cNvCxnSpPr>
          <p:nvPr/>
        </p:nvCxnSpPr>
        <p:spPr>
          <a:xfrm>
            <a:off x="3155365" y="3811603"/>
            <a:ext cx="4011" cy="344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owchart: Decision 26"/>
          <p:cNvSpPr/>
          <p:nvPr/>
        </p:nvSpPr>
        <p:spPr>
          <a:xfrm>
            <a:off x="882083" y="4156508"/>
            <a:ext cx="4554586" cy="1994034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1200" dirty="0"/>
              <a:t>If match </a:t>
            </a:r>
            <a:r>
              <a:rPr lang="en-IN" sz="1200" b="1" dirty="0"/>
              <a:t>Job domain and Job skills </a:t>
            </a:r>
            <a:r>
              <a:rPr lang="en-IN" sz="1200" dirty="0"/>
              <a:t>with the elk index records using the </a:t>
            </a:r>
            <a:r>
              <a:rPr lang="en-IN" sz="1200" b="1" dirty="0"/>
              <a:t>must(AND) </a:t>
            </a:r>
            <a:r>
              <a:rPr lang="en-IN" sz="1200" dirty="0"/>
              <a:t>condition remaining all fields are used in the </a:t>
            </a:r>
            <a:r>
              <a:rPr lang="en-IN" sz="1200" b="1" dirty="0"/>
              <a:t>should(OR) </a:t>
            </a:r>
            <a:r>
              <a:rPr lang="en-IN" sz="1200" dirty="0"/>
              <a:t>condition    </a:t>
            </a:r>
            <a:endParaRPr lang="en-IN" sz="1200" dirty="0"/>
          </a:p>
        </p:txBody>
      </p:sp>
      <p:sp>
        <p:nvSpPr>
          <p:cNvPr id="28" name="Flowchart: Alternate Process 27"/>
          <p:cNvSpPr/>
          <p:nvPr/>
        </p:nvSpPr>
        <p:spPr>
          <a:xfrm>
            <a:off x="6198670" y="3561346"/>
            <a:ext cx="2348563" cy="644892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Find the minimum distance of locations with the Job location</a:t>
            </a:r>
            <a:endParaRPr lang="en-IN" sz="1200" dirty="0"/>
          </a:p>
        </p:txBody>
      </p:sp>
      <p:cxnSp>
        <p:nvCxnSpPr>
          <p:cNvPr id="30" name="Straight Arrow Connector 29"/>
          <p:cNvCxnSpPr>
            <a:stCxn id="28" idx="3"/>
            <a:endCxn id="31" idx="1"/>
          </p:cNvCxnSpPr>
          <p:nvPr/>
        </p:nvCxnSpPr>
        <p:spPr>
          <a:xfrm>
            <a:off x="8547233" y="3883792"/>
            <a:ext cx="404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8951495" y="3590221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Find the weightage calculation(using the above formula) for each record</a:t>
            </a:r>
            <a:endParaRPr lang="en-IN" sz="1200" dirty="0">
              <a:solidFill>
                <a:schemeClr val="dk1"/>
              </a:solidFill>
            </a:endParaRPr>
          </a:p>
        </p:txBody>
      </p:sp>
      <p:sp>
        <p:nvSpPr>
          <p:cNvPr id="32" name="Speech Bubble: Rectangle with Corners Rounded 31"/>
          <p:cNvSpPr/>
          <p:nvPr/>
        </p:nvSpPr>
        <p:spPr>
          <a:xfrm>
            <a:off x="8142971" y="2080469"/>
            <a:ext cx="3561347" cy="1143995"/>
          </a:xfrm>
          <a:prstGeom prst="wedgeRoundRectCallout">
            <a:avLst>
              <a:gd name="adj1" fmla="val -20833"/>
              <a:gd name="adj2" fmla="val 7406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Final Weighted Score =  (Job domain encoding *0.16 +Job skill encoding  *0.16 + Education encoding * 0.16 + Job Experience encoding * 0.16 + </a:t>
            </a:r>
            <a:r>
              <a:rPr lang="en-US" sz="1200" dirty="0"/>
              <a:t>Job Salary * 0.10+ Gender  * 0.05 + </a:t>
            </a:r>
            <a:r>
              <a:rPr lang="pt-BR" sz="1200" dirty="0"/>
              <a:t>minimum location distance * 0.05) *100</a:t>
            </a:r>
            <a:endParaRPr lang="en-IN" sz="1200" dirty="0"/>
          </a:p>
          <a:p>
            <a:pPr algn="ctr"/>
            <a:endParaRPr lang="en-IN" sz="1200" dirty="0"/>
          </a:p>
        </p:txBody>
      </p:sp>
      <p:cxnSp>
        <p:nvCxnSpPr>
          <p:cNvPr id="46" name="Straight Arrow Connector 45"/>
          <p:cNvCxnSpPr>
            <a:stCxn id="31" idx="2"/>
            <a:endCxn id="49" idx="0"/>
          </p:cNvCxnSpPr>
          <p:nvPr/>
        </p:nvCxnSpPr>
        <p:spPr>
          <a:xfrm>
            <a:off x="10351971" y="4177363"/>
            <a:ext cx="0" cy="52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34888" y="4706754"/>
            <a:ext cx="1434166" cy="962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410" y="4768313"/>
            <a:ext cx="725805" cy="63944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808143" y="5226517"/>
            <a:ext cx="110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Ranked Response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283158" y="5669280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272772" y="5944168"/>
            <a:ext cx="2001520" cy="9138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Top recommendation records as a</a:t>
            </a:r>
            <a:endParaRPr lang="en-IN" sz="1200" dirty="0"/>
          </a:p>
          <a:p>
            <a:pPr algn="ctr"/>
            <a:r>
              <a:rPr lang="en-IN" sz="1200" dirty="0"/>
              <a:t>response to the end user</a:t>
            </a:r>
            <a:endParaRPr lang="en-IN" sz="1200" dirty="0"/>
          </a:p>
        </p:txBody>
      </p:sp>
      <p:sp>
        <p:nvSpPr>
          <p:cNvPr id="3" name="Oval 2"/>
          <p:cNvSpPr/>
          <p:nvPr/>
        </p:nvSpPr>
        <p:spPr>
          <a:xfrm>
            <a:off x="2767704" y="808523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  <a:endParaRPr lang="en-IN" dirty="0"/>
          </a:p>
        </p:txBody>
      </p:sp>
      <p:sp>
        <p:nvSpPr>
          <p:cNvPr id="48" name="Oval 47"/>
          <p:cNvSpPr/>
          <p:nvPr/>
        </p:nvSpPr>
        <p:spPr>
          <a:xfrm>
            <a:off x="2722228" y="3912424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  <a:endParaRPr lang="en-IN" dirty="0"/>
          </a:p>
        </p:txBody>
      </p:sp>
      <p:cxnSp>
        <p:nvCxnSpPr>
          <p:cNvPr id="57" name="Connector: Elbow 56"/>
          <p:cNvCxnSpPr>
            <a:stCxn id="19" idx="3"/>
            <a:endCxn id="28" idx="0"/>
          </p:cNvCxnSpPr>
          <p:nvPr/>
        </p:nvCxnSpPr>
        <p:spPr>
          <a:xfrm>
            <a:off x="5428647" y="2558302"/>
            <a:ext cx="1944305" cy="10030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/>
          <p:cNvCxnSpPr>
            <a:stCxn id="27" idx="3"/>
            <a:endCxn id="28" idx="2"/>
          </p:cNvCxnSpPr>
          <p:nvPr/>
        </p:nvCxnSpPr>
        <p:spPr>
          <a:xfrm flipV="1">
            <a:off x="5436669" y="4206238"/>
            <a:ext cx="1936283" cy="9472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073541" y="2569944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5927557" y="4859153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3117785" y="729436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3183921" y="3758535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cxnSp>
        <p:nvCxnSpPr>
          <p:cNvPr id="7" name="Straight Arrow Connector 6"/>
          <p:cNvCxnSpPr>
            <a:stCxn id="27" idx="2"/>
          </p:cNvCxnSpPr>
          <p:nvPr/>
        </p:nvCxnSpPr>
        <p:spPr>
          <a:xfrm flipH="1">
            <a:off x="3145737" y="6150542"/>
            <a:ext cx="13639" cy="707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252" y="125129"/>
            <a:ext cx="6679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Recommendation Engine </a:t>
            </a:r>
            <a:r>
              <a:rPr lang="en-IN" dirty="0" err="1">
                <a:solidFill>
                  <a:schemeClr val="bg1"/>
                </a:solidFill>
              </a:rPr>
              <a:t>CandiateReco</a:t>
            </a:r>
            <a:r>
              <a:rPr lang="en-IN" dirty="0">
                <a:solidFill>
                  <a:schemeClr val="bg1"/>
                </a:solidFill>
              </a:rPr>
              <a:t> endpoint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3145737" y="475362"/>
            <a:ext cx="13639" cy="841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/>
          <p:cNvSpPr/>
          <p:nvPr/>
        </p:nvSpPr>
        <p:spPr>
          <a:xfrm>
            <a:off x="882083" y="1305001"/>
            <a:ext cx="4554586" cy="2506602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1200" dirty="0"/>
              <a:t>If match </a:t>
            </a:r>
            <a:r>
              <a:rPr lang="en-IN" sz="1200" b="1" dirty="0"/>
              <a:t>Job domain </a:t>
            </a:r>
            <a:r>
              <a:rPr lang="en-IN" sz="1200" dirty="0"/>
              <a:t>with the elk index records using the </a:t>
            </a:r>
            <a:r>
              <a:rPr lang="en-IN" sz="1200" b="1" dirty="0"/>
              <a:t>must(AND) </a:t>
            </a:r>
            <a:r>
              <a:rPr lang="en-IN" sz="1200" dirty="0"/>
              <a:t>condition remaining all fields are used in the </a:t>
            </a:r>
            <a:r>
              <a:rPr lang="en-IN" sz="1200" b="1" dirty="0"/>
              <a:t>should(OR) </a:t>
            </a:r>
            <a:r>
              <a:rPr lang="en-IN" sz="1200" dirty="0"/>
              <a:t>condition    </a:t>
            </a:r>
            <a:endParaRPr lang="en-IN" sz="1200" dirty="0"/>
          </a:p>
          <a:p>
            <a:pPr algn="just"/>
            <a:endParaRPr lang="en-IN" sz="1200" dirty="0"/>
          </a:p>
        </p:txBody>
      </p:sp>
      <p:cxnSp>
        <p:nvCxnSpPr>
          <p:cNvPr id="21" name="Straight Arrow Connector 20"/>
          <p:cNvCxnSpPr>
            <a:stCxn id="19" idx="2"/>
            <a:endCxn id="27" idx="0"/>
          </p:cNvCxnSpPr>
          <p:nvPr/>
        </p:nvCxnSpPr>
        <p:spPr>
          <a:xfrm>
            <a:off x="3159376" y="3811603"/>
            <a:ext cx="0" cy="344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owchart: Decision 26"/>
          <p:cNvSpPr/>
          <p:nvPr/>
        </p:nvSpPr>
        <p:spPr>
          <a:xfrm>
            <a:off x="882083" y="4156508"/>
            <a:ext cx="4554586" cy="1994034"/>
          </a:xfrm>
          <a:prstGeom prst="flowChartDecision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All fields are used in the </a:t>
            </a:r>
            <a:r>
              <a:rPr lang="en-IN" sz="1200" b="1" dirty="0"/>
              <a:t>should(OR) </a:t>
            </a:r>
            <a:r>
              <a:rPr lang="en-IN" sz="1200" dirty="0"/>
              <a:t>condition    </a:t>
            </a:r>
            <a:endParaRPr lang="en-IN" sz="1200" dirty="0"/>
          </a:p>
        </p:txBody>
      </p:sp>
      <p:sp>
        <p:nvSpPr>
          <p:cNvPr id="28" name="Flowchart: Alternate Process 27"/>
          <p:cNvSpPr/>
          <p:nvPr/>
        </p:nvSpPr>
        <p:spPr>
          <a:xfrm>
            <a:off x="6198670" y="3561346"/>
            <a:ext cx="2348563" cy="644892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Find the minimum distance of locations with the Job location</a:t>
            </a:r>
            <a:endParaRPr lang="en-IN" sz="1200" dirty="0"/>
          </a:p>
        </p:txBody>
      </p:sp>
      <p:cxnSp>
        <p:nvCxnSpPr>
          <p:cNvPr id="30" name="Straight Arrow Connector 29"/>
          <p:cNvCxnSpPr>
            <a:stCxn id="28" idx="3"/>
            <a:endCxn id="31" idx="1"/>
          </p:cNvCxnSpPr>
          <p:nvPr/>
        </p:nvCxnSpPr>
        <p:spPr>
          <a:xfrm>
            <a:off x="8547233" y="3883792"/>
            <a:ext cx="404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>
            <a:off x="8951495" y="3590221"/>
            <a:ext cx="2800951" cy="5871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Find the weightage calculation(using the above formula) for each record</a:t>
            </a:r>
            <a:endParaRPr lang="en-IN" sz="1200" dirty="0">
              <a:solidFill>
                <a:schemeClr val="dk1"/>
              </a:solidFill>
            </a:endParaRPr>
          </a:p>
        </p:txBody>
      </p:sp>
      <p:sp>
        <p:nvSpPr>
          <p:cNvPr id="32" name="Speech Bubble: Rectangle with Corners Rounded 31"/>
          <p:cNvSpPr/>
          <p:nvPr/>
        </p:nvSpPr>
        <p:spPr>
          <a:xfrm>
            <a:off x="8142971" y="2080469"/>
            <a:ext cx="3561347" cy="1143995"/>
          </a:xfrm>
          <a:prstGeom prst="wedgeRoundRectCallout">
            <a:avLst>
              <a:gd name="adj1" fmla="val -20833"/>
              <a:gd name="adj2" fmla="val 7406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Final Weighted Score =  (Job domain encoding *0.16 +Job skill encoding  *0.16 + Education encoding * 0.16 + Job Experience encoding * 0.16 + </a:t>
            </a:r>
            <a:r>
              <a:rPr lang="en-US" sz="1200" dirty="0"/>
              <a:t>Job Salary * 0.10+ Gender  * 0.05 + </a:t>
            </a:r>
            <a:r>
              <a:rPr lang="pt-BR" sz="1200" dirty="0"/>
              <a:t>minimum location distance * 0.05) *100</a:t>
            </a:r>
            <a:endParaRPr lang="en-IN" sz="1200" dirty="0"/>
          </a:p>
          <a:p>
            <a:pPr algn="ctr"/>
            <a:endParaRPr lang="en-IN" sz="1200" dirty="0"/>
          </a:p>
        </p:txBody>
      </p:sp>
      <p:cxnSp>
        <p:nvCxnSpPr>
          <p:cNvPr id="46" name="Straight Arrow Connector 45"/>
          <p:cNvCxnSpPr>
            <a:stCxn id="31" idx="2"/>
            <a:endCxn id="49" idx="0"/>
          </p:cNvCxnSpPr>
          <p:nvPr/>
        </p:nvCxnSpPr>
        <p:spPr>
          <a:xfrm>
            <a:off x="10351971" y="4177363"/>
            <a:ext cx="0" cy="52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34888" y="4706754"/>
            <a:ext cx="1434166" cy="962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410" y="4768313"/>
            <a:ext cx="725805" cy="63944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808143" y="5226517"/>
            <a:ext cx="110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dk1"/>
                </a:solidFill>
              </a:rPr>
              <a:t>Ranked Response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0283158" y="5669280"/>
            <a:ext cx="0" cy="2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272772" y="5944168"/>
            <a:ext cx="2001520" cy="9138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Top recommendation records as a</a:t>
            </a:r>
            <a:endParaRPr lang="en-IN" sz="1200" dirty="0"/>
          </a:p>
          <a:p>
            <a:pPr algn="ctr"/>
            <a:r>
              <a:rPr lang="en-IN" sz="1200" dirty="0"/>
              <a:t>response to the end user</a:t>
            </a:r>
            <a:endParaRPr lang="en-IN" sz="1200" dirty="0"/>
          </a:p>
        </p:txBody>
      </p:sp>
      <p:sp>
        <p:nvSpPr>
          <p:cNvPr id="3" name="Oval 2"/>
          <p:cNvSpPr/>
          <p:nvPr/>
        </p:nvSpPr>
        <p:spPr>
          <a:xfrm>
            <a:off x="2767704" y="808523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  <a:endParaRPr lang="en-IN" dirty="0"/>
          </a:p>
        </p:txBody>
      </p:sp>
      <p:sp>
        <p:nvSpPr>
          <p:cNvPr id="48" name="Oval 47"/>
          <p:cNvSpPr/>
          <p:nvPr/>
        </p:nvSpPr>
        <p:spPr>
          <a:xfrm>
            <a:off x="2722228" y="3912424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  <a:endParaRPr lang="en-IN" dirty="0"/>
          </a:p>
        </p:txBody>
      </p:sp>
      <p:cxnSp>
        <p:nvCxnSpPr>
          <p:cNvPr id="57" name="Connector: Elbow 56"/>
          <p:cNvCxnSpPr>
            <a:stCxn id="19" idx="3"/>
            <a:endCxn id="28" idx="0"/>
          </p:cNvCxnSpPr>
          <p:nvPr/>
        </p:nvCxnSpPr>
        <p:spPr>
          <a:xfrm>
            <a:off x="5436669" y="2558302"/>
            <a:ext cx="1936283" cy="10030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/>
          <p:cNvCxnSpPr>
            <a:stCxn id="27" idx="3"/>
            <a:endCxn id="28" idx="2"/>
          </p:cNvCxnSpPr>
          <p:nvPr/>
        </p:nvCxnSpPr>
        <p:spPr>
          <a:xfrm flipV="1">
            <a:off x="5436669" y="4206238"/>
            <a:ext cx="1936283" cy="9472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073541" y="2569944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5927557" y="4859153"/>
            <a:ext cx="77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3117785" y="729436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3183921" y="3758535"/>
            <a:ext cx="4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122" y="68599"/>
            <a:ext cx="11353014" cy="2742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bg1"/>
                </a:solidFill>
              </a:rPr>
              <a:t>Business Logic: pillar 1 Candidate Filter    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59761" y="622168"/>
          <a:ext cx="1870698" cy="2546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8"/>
                <a:gridCol w="1508290"/>
              </a:tblGrid>
              <a:tr h="363523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User inputs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363523"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Location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3523"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Gender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3523"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Job title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3523">
                <a:tc>
                  <a:txBody>
                    <a:bodyPr/>
                    <a:lstStyle/>
                    <a:p>
                      <a:r>
                        <a:rPr lang="en-IN" sz="1200" dirty="0"/>
                        <a:t>4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Job domain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3523">
                <a:tc>
                  <a:txBody>
                    <a:bodyPr/>
                    <a:lstStyle/>
                    <a:p>
                      <a:r>
                        <a:rPr lang="en-IN" sz="1200" dirty="0"/>
                        <a:t>5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Experience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3523">
                <a:tc>
                  <a:txBody>
                    <a:bodyPr/>
                    <a:lstStyle/>
                    <a:p>
                      <a:r>
                        <a:rPr lang="en-IN" sz="1200" dirty="0"/>
                        <a:t>6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Education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893533" y="949925"/>
            <a:ext cx="2101979" cy="772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User input through </a:t>
            </a:r>
            <a:r>
              <a:rPr lang="en-IN" sz="1400" dirty="0" err="1">
                <a:solidFill>
                  <a:schemeClr val="tx1"/>
                </a:solidFill>
              </a:rPr>
              <a:t>candidatefilter</a:t>
            </a:r>
            <a:r>
              <a:rPr lang="en-IN" sz="1400" dirty="0">
                <a:solidFill>
                  <a:schemeClr val="tx1"/>
                </a:solidFill>
              </a:rPr>
              <a:t> API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130459" y="1602557"/>
            <a:ext cx="776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579571" y="3599849"/>
            <a:ext cx="2940549" cy="9143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Based on input values for each column value build elk query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5" idx="2"/>
          </p:cNvCxnSpPr>
          <p:nvPr/>
        </p:nvCxnSpPr>
        <p:spPr>
          <a:xfrm>
            <a:off x="3944523" y="1722923"/>
            <a:ext cx="0" cy="365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992749" y="3580599"/>
            <a:ext cx="2498103" cy="9347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Find the weight calculation for each record(as per the above explanation)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07434" y="4881596"/>
            <a:ext cx="2196445" cy="4122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Ranked response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471259" y="5739650"/>
            <a:ext cx="1468796" cy="11183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Top 30 records as a response to the end user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34" idx="3"/>
            <a:endCxn id="13" idx="1"/>
          </p:cNvCxnSpPr>
          <p:nvPr/>
        </p:nvCxnSpPr>
        <p:spPr>
          <a:xfrm flipV="1">
            <a:off x="8475069" y="4047970"/>
            <a:ext cx="517680" cy="4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4" idx="2"/>
            <a:endCxn id="15" idx="0"/>
          </p:cNvCxnSpPr>
          <p:nvPr/>
        </p:nvCxnSpPr>
        <p:spPr>
          <a:xfrm>
            <a:off x="10205657" y="5293895"/>
            <a:ext cx="0" cy="445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ular Callout 25"/>
          <p:cNvSpPr/>
          <p:nvPr/>
        </p:nvSpPr>
        <p:spPr>
          <a:xfrm>
            <a:off x="8835743" y="2273841"/>
            <a:ext cx="2578231" cy="914400"/>
          </a:xfrm>
          <a:prstGeom prst="wedgeRectCallout">
            <a:avLst>
              <a:gd name="adj1" fmla="val -21953"/>
              <a:gd name="adj2" fmla="val 8355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Each of job domain, location, qualification, experience weightage as 25 percentage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077927" y="2104559"/>
            <a:ext cx="1866507" cy="1008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solidFill>
                  <a:schemeClr val="tx1"/>
                </a:solidFill>
              </a:rPr>
              <a:t>Preprocess</a:t>
            </a:r>
            <a:r>
              <a:rPr lang="en-IN" sz="1400" dirty="0">
                <a:solidFill>
                  <a:schemeClr val="tx1"/>
                </a:solidFill>
              </a:rPr>
              <a:t> the input parameters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27" idx="2"/>
          </p:cNvCxnSpPr>
          <p:nvPr/>
        </p:nvCxnSpPr>
        <p:spPr>
          <a:xfrm>
            <a:off x="4011181" y="3113227"/>
            <a:ext cx="0" cy="486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iamond 33"/>
          <p:cNvSpPr/>
          <p:nvPr/>
        </p:nvSpPr>
        <p:spPr>
          <a:xfrm>
            <a:off x="6090089" y="3316944"/>
            <a:ext cx="2384980" cy="147058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If response has records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42471" y="4117331"/>
            <a:ext cx="568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Yes</a:t>
            </a:r>
            <a:endParaRPr lang="en-IN" sz="1400" dirty="0"/>
          </a:p>
        </p:txBody>
      </p:sp>
      <p:sp>
        <p:nvSpPr>
          <p:cNvPr id="42" name="Rectangle 41"/>
          <p:cNvSpPr/>
          <p:nvPr/>
        </p:nvSpPr>
        <p:spPr>
          <a:xfrm>
            <a:off x="6311221" y="5321332"/>
            <a:ext cx="1904214" cy="820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No records found message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/>
          <p:cNvCxnSpPr>
            <a:stCxn id="34" idx="2"/>
            <a:endCxn id="42" idx="0"/>
          </p:cNvCxnSpPr>
          <p:nvPr/>
        </p:nvCxnSpPr>
        <p:spPr>
          <a:xfrm flipH="1">
            <a:off x="7263328" y="4787526"/>
            <a:ext cx="19251" cy="533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524891" y="4912208"/>
            <a:ext cx="630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</a:t>
            </a:r>
            <a:endParaRPr lang="en-IN" sz="1400" dirty="0"/>
          </a:p>
        </p:txBody>
      </p:sp>
      <p:cxnSp>
        <p:nvCxnSpPr>
          <p:cNvPr id="32" name="Straight Arrow Connector 31"/>
          <p:cNvCxnSpPr>
            <a:stCxn id="9" idx="3"/>
            <a:endCxn id="34" idx="1"/>
          </p:cNvCxnSpPr>
          <p:nvPr/>
        </p:nvCxnSpPr>
        <p:spPr>
          <a:xfrm flipV="1">
            <a:off x="5520120" y="4052235"/>
            <a:ext cx="569969" cy="4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14" idx="0"/>
          </p:cNvCxnSpPr>
          <p:nvPr/>
        </p:nvCxnSpPr>
        <p:spPr>
          <a:xfrm flipH="1">
            <a:off x="10205657" y="4515341"/>
            <a:ext cx="7268" cy="366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/>
          <p:cNvCxnSpPr>
            <a:endCxn id="15" idx="1"/>
          </p:cNvCxnSpPr>
          <p:nvPr/>
        </p:nvCxnSpPr>
        <p:spPr>
          <a:xfrm flipV="1">
            <a:off x="4319870" y="2161517"/>
            <a:ext cx="973727" cy="21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912882" y="3097077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293597" y="1765591"/>
            <a:ext cx="2066251" cy="7918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Form elk query with found </a:t>
            </a:r>
            <a:r>
              <a:rPr lang="en-IN" sz="1200" dirty="0" err="1">
                <a:solidFill>
                  <a:schemeClr val="tx1"/>
                </a:solidFill>
              </a:rPr>
              <a:t>jobtitle</a:t>
            </a:r>
            <a:r>
              <a:rPr lang="en-IN" sz="1200" dirty="0">
                <a:solidFill>
                  <a:schemeClr val="tx1"/>
                </a:solidFill>
              </a:rPr>
              <a:t> or </a:t>
            </a:r>
            <a:r>
              <a:rPr lang="en-IN" sz="1200" dirty="0" err="1">
                <a:solidFill>
                  <a:schemeClr val="tx1"/>
                </a:solidFill>
              </a:rPr>
              <a:t>jobdomain</a:t>
            </a:r>
            <a:r>
              <a:rPr lang="en-IN" sz="1200" dirty="0">
                <a:solidFill>
                  <a:schemeClr val="tx1"/>
                </a:solidFill>
              </a:rPr>
              <a:t> 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77096" y="3283197"/>
            <a:ext cx="2073897" cy="9258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Response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929961" y="4927521"/>
            <a:ext cx="2168165" cy="1092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Top 30 records as response to the end user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6" idx="2"/>
            <a:endCxn id="17" idx="0"/>
          </p:cNvCxnSpPr>
          <p:nvPr/>
        </p:nvCxnSpPr>
        <p:spPr>
          <a:xfrm flipH="1">
            <a:off x="10014044" y="4209092"/>
            <a:ext cx="1" cy="718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5" idx="3"/>
            <a:endCxn id="16" idx="0"/>
          </p:cNvCxnSpPr>
          <p:nvPr/>
        </p:nvCxnSpPr>
        <p:spPr>
          <a:xfrm>
            <a:off x="7359848" y="2161517"/>
            <a:ext cx="2654197" cy="11216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97724" y="3412503"/>
            <a:ext cx="480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  <a:endParaRPr lang="en-IN" sz="1200" dirty="0"/>
          </a:p>
        </p:txBody>
      </p:sp>
      <p:sp>
        <p:nvSpPr>
          <p:cNvPr id="32" name="Rectangle 31"/>
          <p:cNvSpPr/>
          <p:nvPr/>
        </p:nvSpPr>
        <p:spPr>
          <a:xfrm>
            <a:off x="1879059" y="3864990"/>
            <a:ext cx="1993769" cy="873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Form query based out of given free text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3122" y="68599"/>
            <a:ext cx="11353014" cy="2742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bg1"/>
                </a:solidFill>
              </a:rPr>
              <a:t>Business Logic: pillar 1 Job </a:t>
            </a:r>
            <a:r>
              <a:rPr lang="en-IN" dirty="0" err="1">
                <a:solidFill>
                  <a:schemeClr val="bg1"/>
                </a:solidFill>
              </a:rPr>
              <a:t>freetext</a:t>
            </a:r>
            <a:r>
              <a:rPr lang="en-IN" dirty="0">
                <a:solidFill>
                  <a:schemeClr val="bg1"/>
                </a:solidFill>
              </a:rPr>
              <a:t>   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2436180" y="851545"/>
            <a:ext cx="273377" cy="2498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2" name="Diamond 41"/>
          <p:cNvSpPr/>
          <p:nvPr/>
        </p:nvSpPr>
        <p:spPr>
          <a:xfrm>
            <a:off x="4870086" y="3438483"/>
            <a:ext cx="2281288" cy="176551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If records available for the search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/>
          <p:cNvCxnSpPr>
            <a:stCxn id="32" idx="3"/>
          </p:cNvCxnSpPr>
          <p:nvPr/>
        </p:nvCxnSpPr>
        <p:spPr>
          <a:xfrm flipV="1">
            <a:off x="3872828" y="4301987"/>
            <a:ext cx="10369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087498" y="5609506"/>
            <a:ext cx="1904214" cy="820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No records found message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01245" y="5184742"/>
            <a:ext cx="649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</a:t>
            </a:r>
            <a:endParaRPr lang="en-IN" sz="1200" dirty="0"/>
          </a:p>
        </p:txBody>
      </p:sp>
      <p:cxnSp>
        <p:nvCxnSpPr>
          <p:cNvPr id="48" name="Straight Arrow Connector 47"/>
          <p:cNvCxnSpPr>
            <a:stCxn id="42" idx="2"/>
            <a:endCxn id="45" idx="0"/>
          </p:cNvCxnSpPr>
          <p:nvPr/>
        </p:nvCxnSpPr>
        <p:spPr>
          <a:xfrm>
            <a:off x="6010730" y="5203993"/>
            <a:ext cx="28875" cy="40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42" idx="3"/>
            <a:endCxn id="16" idx="1"/>
          </p:cNvCxnSpPr>
          <p:nvPr/>
        </p:nvCxnSpPr>
        <p:spPr>
          <a:xfrm flipV="1">
            <a:off x="7151374" y="3746145"/>
            <a:ext cx="1825722" cy="5750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268066" y="3864990"/>
            <a:ext cx="535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Yes</a:t>
            </a:r>
            <a:endParaRPr lang="en-IN" sz="1200" dirty="0"/>
          </a:p>
        </p:txBody>
      </p:sp>
      <p:sp>
        <p:nvSpPr>
          <p:cNvPr id="13" name="Diamond 12"/>
          <p:cNvSpPr/>
          <p:nvPr/>
        </p:nvSpPr>
        <p:spPr>
          <a:xfrm>
            <a:off x="1376411" y="1122852"/>
            <a:ext cx="2982290" cy="2135543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If match (</a:t>
            </a:r>
            <a:r>
              <a:rPr lang="en-IN" sz="1200" b="1" dirty="0">
                <a:solidFill>
                  <a:schemeClr val="tx1"/>
                </a:solidFill>
              </a:rPr>
              <a:t>job title or  job domain</a:t>
            </a:r>
            <a:r>
              <a:rPr lang="en-IN" sz="1200" dirty="0">
                <a:solidFill>
                  <a:schemeClr val="tx1"/>
                </a:solidFill>
              </a:rPr>
              <a:t>) and work mode, location, and gender with the elk’s respective fields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877182" y="582572"/>
            <a:ext cx="0" cy="553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3" idx="2"/>
            <a:endCxn id="32" idx="0"/>
          </p:cNvCxnSpPr>
          <p:nvPr/>
        </p:nvCxnSpPr>
        <p:spPr>
          <a:xfrm>
            <a:off x="2867556" y="3258395"/>
            <a:ext cx="8388" cy="606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2280572" y="3506513"/>
            <a:ext cx="273377" cy="2498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6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628" y="96254"/>
            <a:ext cx="11925703" cy="4042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252" y="125129"/>
            <a:ext cx="606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Logic: Pillar 1 Resume Parser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08934" y="830103"/>
            <a:ext cx="2662990" cy="59443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User’s resume path through the API /</a:t>
            </a:r>
            <a:r>
              <a:rPr lang="en-IN" sz="1400" b="1" dirty="0" err="1"/>
              <a:t>ResumeParser</a:t>
            </a:r>
            <a:endParaRPr lang="en-IN" sz="1400" b="1" dirty="0"/>
          </a:p>
          <a:p>
            <a:pPr algn="ctr"/>
            <a:endParaRPr lang="en-IN" sz="1400" dirty="0"/>
          </a:p>
        </p:txBody>
      </p:sp>
      <p:cxnSp>
        <p:nvCxnSpPr>
          <p:cNvPr id="15" name="Straight Arrow Connector 14"/>
          <p:cNvCxnSpPr>
            <a:stCxn id="9" idx="3"/>
          </p:cNvCxnSpPr>
          <p:nvPr/>
        </p:nvCxnSpPr>
        <p:spPr>
          <a:xfrm>
            <a:off x="2425566" y="1130968"/>
            <a:ext cx="12897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075846" y="755499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IN" dirty="0"/>
          </a:p>
        </p:txBody>
      </p:sp>
      <p:sp>
        <p:nvSpPr>
          <p:cNvPr id="91" name="Oval 90"/>
          <p:cNvSpPr/>
          <p:nvPr/>
        </p:nvSpPr>
        <p:spPr>
          <a:xfrm>
            <a:off x="5356826" y="1756765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  <a:endParaRPr lang="en-IN" dirty="0"/>
          </a:p>
        </p:txBody>
      </p:sp>
      <p:sp>
        <p:nvSpPr>
          <p:cNvPr id="94" name="Oval 93"/>
          <p:cNvSpPr/>
          <p:nvPr/>
        </p:nvSpPr>
        <p:spPr>
          <a:xfrm>
            <a:off x="5592277" y="3702205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IN" dirty="0"/>
          </a:p>
        </p:txBody>
      </p:sp>
      <p:sp>
        <p:nvSpPr>
          <p:cNvPr id="95" name="Oval 94"/>
          <p:cNvSpPr/>
          <p:nvPr/>
        </p:nvSpPr>
        <p:spPr>
          <a:xfrm>
            <a:off x="5563401" y="5035908"/>
            <a:ext cx="231006" cy="23100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10139" y="539014"/>
            <a:ext cx="1915427" cy="11839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54518" y="558265"/>
            <a:ext cx="1607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User resume in Azure blob storage</a:t>
            </a:r>
            <a:endParaRPr lang="en-IN" sz="1200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12" y="1072925"/>
            <a:ext cx="472468" cy="44996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69" y="1049154"/>
            <a:ext cx="412450" cy="43536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047" y="1044531"/>
            <a:ext cx="433285" cy="505136"/>
          </a:xfrm>
          <a:prstGeom prst="rect">
            <a:avLst/>
          </a:prstGeom>
        </p:spPr>
      </p:pic>
      <p:sp>
        <p:nvSpPr>
          <p:cNvPr id="28" name="Rectangle: Rounded Corners 27"/>
          <p:cNvSpPr/>
          <p:nvPr/>
        </p:nvSpPr>
        <p:spPr>
          <a:xfrm>
            <a:off x="231006" y="2531445"/>
            <a:ext cx="3003083" cy="104915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Passed the resume through open-source </a:t>
            </a:r>
            <a:r>
              <a:rPr lang="en-IN" sz="1200" b="1" dirty="0"/>
              <a:t>resume parser</a:t>
            </a:r>
            <a:r>
              <a:rPr lang="en-IN" sz="1200" dirty="0"/>
              <a:t>  to extract details like skills, education, experience, job title, phone number etc. </a:t>
            </a:r>
            <a:endParaRPr lang="en-US" sz="1200" dirty="0"/>
          </a:p>
        </p:txBody>
      </p:sp>
      <p:sp>
        <p:nvSpPr>
          <p:cNvPr id="29" name="Rectangle: Rounded Corners 28"/>
          <p:cNvSpPr/>
          <p:nvPr/>
        </p:nvSpPr>
        <p:spPr>
          <a:xfrm>
            <a:off x="3542096" y="2579571"/>
            <a:ext cx="3619099" cy="100102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Regexes</a:t>
            </a:r>
            <a:r>
              <a:rPr lang="en-IN" sz="1200" dirty="0"/>
              <a:t> is used to extract other details like dob and other dates. Python open-source library is also used to extract location.</a:t>
            </a:r>
            <a:endParaRPr lang="en-US" sz="1200" dirty="0"/>
          </a:p>
        </p:txBody>
      </p:sp>
      <p:sp>
        <p:nvSpPr>
          <p:cNvPr id="38" name="Rectangle: Rounded Corners 37"/>
          <p:cNvSpPr/>
          <p:nvPr/>
        </p:nvSpPr>
        <p:spPr>
          <a:xfrm>
            <a:off x="7623207" y="2608446"/>
            <a:ext cx="3147461" cy="97215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OCR </a:t>
            </a:r>
            <a:r>
              <a:rPr kumimoji="0" lang="en-I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parsing of resume to get paragraph extraction of skills, education and experience through python open-source library.</a:t>
            </a:r>
            <a:endParaRPr kumimoji="0" lang="en-IN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8" name="Straight Arrow Connector 47"/>
          <p:cNvCxnSpPr>
            <a:endCxn id="29" idx="1"/>
          </p:cNvCxnSpPr>
          <p:nvPr/>
        </p:nvCxnSpPr>
        <p:spPr>
          <a:xfrm>
            <a:off x="3214838" y="3075272"/>
            <a:ext cx="327258" cy="48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9" idx="3"/>
          </p:cNvCxnSpPr>
          <p:nvPr/>
        </p:nvCxnSpPr>
        <p:spPr>
          <a:xfrm>
            <a:off x="7161195" y="3080085"/>
            <a:ext cx="4235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29" idx="2"/>
          </p:cNvCxnSpPr>
          <p:nvPr/>
        </p:nvCxnSpPr>
        <p:spPr>
          <a:xfrm>
            <a:off x="5351646" y="3580598"/>
            <a:ext cx="0" cy="47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/>
          <p:cNvSpPr/>
          <p:nvPr/>
        </p:nvSpPr>
        <p:spPr>
          <a:xfrm>
            <a:off x="2906829" y="4042610"/>
            <a:ext cx="4908885" cy="83739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The output parameters are matched with </a:t>
            </a:r>
            <a:r>
              <a:rPr lang="en-IN" sz="1200" b="1" dirty="0"/>
              <a:t>master data </a:t>
            </a:r>
            <a:r>
              <a:rPr lang="en-IN" sz="1200" dirty="0"/>
              <a:t>tables (</a:t>
            </a:r>
            <a:r>
              <a:rPr lang="en-IN" sz="1200" b="1" dirty="0"/>
              <a:t>SQL</a:t>
            </a:r>
            <a:r>
              <a:rPr lang="en-IN" sz="1200" dirty="0"/>
              <a:t>)/paragraphs converted to word tokens in order to get close matching parameters</a:t>
            </a:r>
            <a:r>
              <a:rPr lang="en-IN" sz="1800" dirty="0"/>
              <a:t>.</a:t>
            </a:r>
            <a:endParaRPr lang="en-US" sz="1800" dirty="0"/>
          </a:p>
        </p:txBody>
      </p:sp>
      <p:cxnSp>
        <p:nvCxnSpPr>
          <p:cNvPr id="61" name="Connector: Elbow 60"/>
          <p:cNvCxnSpPr>
            <a:stCxn id="13" idx="2"/>
            <a:endCxn id="38" idx="0"/>
          </p:cNvCxnSpPr>
          <p:nvPr/>
        </p:nvCxnSpPr>
        <p:spPr>
          <a:xfrm rot="16200000" flipH="1">
            <a:off x="6526730" y="-61763"/>
            <a:ext cx="1183907" cy="41565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/>
          <p:cNvCxnSpPr>
            <a:endCxn id="28" idx="0"/>
          </p:cNvCxnSpPr>
          <p:nvPr/>
        </p:nvCxnSpPr>
        <p:spPr>
          <a:xfrm rot="10800000" flipV="1">
            <a:off x="1732548" y="2011681"/>
            <a:ext cx="3291842" cy="5197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29" idx="0"/>
          </p:cNvCxnSpPr>
          <p:nvPr/>
        </p:nvCxnSpPr>
        <p:spPr>
          <a:xfrm>
            <a:off x="5351646" y="2002055"/>
            <a:ext cx="0" cy="577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907857" y="5390148"/>
            <a:ext cx="2945330" cy="94327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The final extracted data is formatted and converter into </a:t>
            </a:r>
            <a:r>
              <a:rPr lang="en-IN" sz="1200" b="1" dirty="0"/>
              <a:t>JSON</a:t>
            </a:r>
            <a:r>
              <a:rPr lang="en-IN" sz="1200" dirty="0"/>
              <a:t> format and send back as an response to the </a:t>
            </a:r>
            <a:r>
              <a:rPr lang="en-IN" sz="1200" b="1" dirty="0"/>
              <a:t>API</a:t>
            </a:r>
            <a:r>
              <a:rPr lang="en-IN" sz="1200" dirty="0"/>
              <a:t> call.</a:t>
            </a:r>
            <a:endParaRPr lang="en-IN" sz="1200" dirty="0"/>
          </a:p>
        </p:txBody>
      </p:sp>
      <p:cxnSp>
        <p:nvCxnSpPr>
          <p:cNvPr id="75" name="Straight Arrow Connector 74"/>
          <p:cNvCxnSpPr>
            <a:stCxn id="57" idx="2"/>
            <a:endCxn id="71" idx="0"/>
          </p:cNvCxnSpPr>
          <p:nvPr/>
        </p:nvCxnSpPr>
        <p:spPr>
          <a:xfrm>
            <a:off x="5361272" y="4880008"/>
            <a:ext cx="19250" cy="510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95070" y="-347345"/>
            <a:ext cx="14582775" cy="7553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12358</Words>
  <Application>WPS Presentation</Application>
  <PresentationFormat>Widescreen</PresentationFormat>
  <Paragraphs>719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Arial</vt:lpstr>
      <vt:lpstr>Wingdings</vt:lpstr>
      <vt:lpstr>Calibri</vt:lpstr>
      <vt:lpstr>Times New Roman</vt:lpstr>
      <vt:lpstr>Calibri</vt:lpstr>
      <vt:lpstr>Microsoft YaHei</vt:lpstr>
      <vt:lpstr>Arial Unicode MS</vt:lpstr>
      <vt:lpstr>Calibri Light</vt:lpstr>
      <vt:lpstr>Office Theme</vt:lpstr>
      <vt:lpstr>Office Theme</vt:lpstr>
      <vt:lpstr>Office Theme</vt:lpstr>
      <vt:lpstr>June  2023</vt:lpstr>
      <vt:lpstr>BEFORE WE DEEP DIVE INTO SOLUTION: FOCUS ON CLIENT  OBJECTIVES &amp; PAIN POINTS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YouthHub Pillar 1  June  2023</dc:title>
  <dc:creator>G, Sathya</dc:creator>
  <cp:lastModifiedBy>sg60</cp:lastModifiedBy>
  <cp:revision>167</cp:revision>
  <dcterms:created xsi:type="dcterms:W3CDTF">2023-07-10T11:06:00Z</dcterms:created>
  <dcterms:modified xsi:type="dcterms:W3CDTF">2025-03-19T05:33:56Z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CB0E66F6F28048A48399980F0E4BF7F5_12</vt:lpwstr>
  </property>
  <property fmtid="{D5CDD505-2E9C-101B-9397-08002B2CF9AE}" pid="3" name="KSOProductBuildVer">
    <vt:lpwstr>1033-12.2.0.16731</vt:lpwstr>
  </property>
</Properties>
</file>