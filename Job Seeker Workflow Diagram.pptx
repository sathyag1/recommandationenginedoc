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66" r:id="rId5"/>
    <p:sldId id="265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E2F0D9"/>
    <a:srgbClr val="BF9000"/>
    <a:srgbClr val="D9D9D9"/>
    <a:srgbClr val="9900FF"/>
    <a:srgbClr val="BDD7EE"/>
    <a:srgbClr val="548235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70DE91-9451-4028-9D36-38735C36FCA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EE21C-CF6D-4FCA-9D55-876DFB58888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Full Image - BH-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/>
          </p:nvPr>
        </p:nvSpPr>
        <p:spPr>
          <a:xfrm>
            <a:off x="0" y="457200"/>
            <a:ext cx="12192000" cy="6400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304800" y="640080"/>
            <a:ext cx="11582400" cy="55220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defRPr lang="en-US" dirty="0"/>
            </a:lvl1pPr>
          </a:lstStyle>
          <a:p>
            <a:r>
              <a:rPr lang="en-US" dirty="0"/>
              <a:t>[Title]</a:t>
            </a:r>
            <a:endParaRPr lang="en-US" dirty="0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28600" y="6556248"/>
            <a:ext cx="2194560" cy="182880"/>
          </a:xfrm>
          <a:prstGeom prst="rect">
            <a:avLst/>
          </a:prstGeom>
        </p:spPr>
        <p:txBody>
          <a:bodyPr anchor="ctr"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defTabSz="609600"/>
            <a:r>
              <a:rPr lang="en-US" dirty="0"/>
              <a:t>© 2020 NTT DATA, Inc. All rights reserved.</a:t>
            </a:r>
            <a:endParaRPr lang="en-US" dirty="0"/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5762244" y="6556248"/>
            <a:ext cx="667512" cy="182880"/>
          </a:xfrm>
          <a:prstGeom prst="rect">
            <a:avLst/>
          </a:prstGeom>
        </p:spPr>
        <p:txBody>
          <a:bodyPr anchor="ctr"/>
          <a:lstStyle>
            <a:lvl1pPr>
              <a:defRPr sz="800">
                <a:solidFill>
                  <a:schemeClr val="accent2"/>
                </a:solidFill>
              </a:defRPr>
            </a:lvl1pPr>
          </a:lstStyle>
          <a:p>
            <a:pPr algn="ctr"/>
            <a:fld id="{92EA2340-BE12-4138-BE15-7C339B03EB4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3 Full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people holding hands&#10;&#10;Description automatically generated with low confidence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de-DE"/>
              <a:t>Insert Picture and send to back</a:t>
            </a:r>
            <a:endParaRPr lang="de-DE"/>
          </a:p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404813" y="4561383"/>
            <a:ext cx="11386134" cy="307777"/>
          </a:xfrm>
        </p:spPr>
        <p:txBody>
          <a:bodyPr wrap="square" lIns="36000" tIns="0" rIns="3600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04813" y="2847127"/>
            <a:ext cx="11386134" cy="1661993"/>
          </a:xfrm>
        </p:spPr>
        <p:txBody>
          <a:bodyPr wrap="square" lIns="36000" rIns="36000" bIns="0" anchor="b" anchorCtr="0">
            <a:spAutoFit/>
          </a:bodyPr>
          <a:lstStyle>
            <a:lvl1pPr algn="l">
              <a:lnSpc>
                <a:spcPct val="90000"/>
              </a:lnSpc>
              <a:defRPr sz="6000" b="1" baseline="0"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9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4050" y="622811"/>
            <a:ext cx="2239484" cy="49963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vmlDrawing" Target="../drawings/vmlDrawing1.vml"/><Relationship Id="rId4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02944-82A4-43ED-94DB-0787EAA33DC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72E90-CF03-4079-92EF-093BD46460B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dirty="0">
              <a:solidFill>
                <a:schemeClr val="tx1"/>
              </a:solidFill>
              <a:latin typeface="HGPGothicE" charset="-128"/>
              <a:ea typeface="HGPGothicE" charset="-128"/>
            </a:endParaRP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5762244" y="6556248"/>
            <a:ext cx="667512" cy="182880"/>
          </a:xfrm>
          <a:prstGeom prst="rect">
            <a:avLst/>
          </a:prstGeom>
        </p:spPr>
        <p:txBody>
          <a:bodyPr anchor="ctr"/>
          <a:lstStyle>
            <a:lvl1pPr algn="ctr">
              <a:defRPr sz="800">
                <a:solidFill>
                  <a:schemeClr val="accent2"/>
                </a:solidFill>
              </a:defRPr>
            </a:lvl1pPr>
          </a:lstStyle>
          <a:p>
            <a:fld id="{92EA2340-BE12-4138-BE15-7C339B03EB4B}" type="slidenum">
              <a:rPr lang="en-US" smtClean="0"/>
            </a:fld>
            <a:endParaRPr lang="en-US"/>
          </a:p>
        </p:txBody>
      </p:sp>
      <p:sp>
        <p:nvSpPr>
          <p:cNvPr id="8" name="Freeform 5"/>
          <p:cNvSpPr>
            <a:spLocks noEditPoints="1"/>
          </p:cNvSpPr>
          <p:nvPr userDrawn="1"/>
        </p:nvSpPr>
        <p:spPr bwMode="auto">
          <a:xfrm>
            <a:off x="10853738" y="152956"/>
            <a:ext cx="1021556" cy="151287"/>
          </a:xfrm>
          <a:custGeom>
            <a:avLst/>
            <a:gdLst>
              <a:gd name="T0" fmla="*/ 375 w 1361"/>
              <a:gd name="T1" fmla="*/ 43 h 199"/>
              <a:gd name="T2" fmla="*/ 313 w 1361"/>
              <a:gd name="T3" fmla="*/ 196 h 199"/>
              <a:gd name="T4" fmla="*/ 269 w 1361"/>
              <a:gd name="T5" fmla="*/ 43 h 199"/>
              <a:gd name="T6" fmla="*/ 207 w 1361"/>
              <a:gd name="T7" fmla="*/ 2 h 199"/>
              <a:gd name="T8" fmla="*/ 995 w 1361"/>
              <a:gd name="T9" fmla="*/ 69 h 199"/>
              <a:gd name="T10" fmla="*/ 864 w 1361"/>
              <a:gd name="T11" fmla="*/ 196 h 199"/>
              <a:gd name="T12" fmla="*/ 811 w 1361"/>
              <a:gd name="T13" fmla="*/ 132 h 199"/>
              <a:gd name="T14" fmla="*/ 951 w 1361"/>
              <a:gd name="T15" fmla="*/ 76 h 199"/>
              <a:gd name="T16" fmla="*/ 929 w 1361"/>
              <a:gd name="T17" fmla="*/ 44 h 199"/>
              <a:gd name="T18" fmla="*/ 821 w 1361"/>
              <a:gd name="T19" fmla="*/ 2 h 199"/>
              <a:gd name="T20" fmla="*/ 995 w 1361"/>
              <a:gd name="T21" fmla="*/ 69 h 199"/>
              <a:gd name="T22" fmla="*/ 951 w 1361"/>
              <a:gd name="T23" fmla="*/ 115 h 199"/>
              <a:gd name="T24" fmla="*/ 854 w 1361"/>
              <a:gd name="T25" fmla="*/ 135 h 199"/>
              <a:gd name="T26" fmla="*/ 951 w 1361"/>
              <a:gd name="T27" fmla="*/ 155 h 199"/>
              <a:gd name="T28" fmla="*/ 1361 w 1361"/>
              <a:gd name="T29" fmla="*/ 196 h 199"/>
              <a:gd name="T30" fmla="*/ 1177 w 1361"/>
              <a:gd name="T31" fmla="*/ 141 h 199"/>
              <a:gd name="T32" fmla="*/ 1228 w 1361"/>
              <a:gd name="T33" fmla="*/ 76 h 199"/>
              <a:gd name="T34" fmla="*/ 1317 w 1361"/>
              <a:gd name="T35" fmla="*/ 69 h 199"/>
              <a:gd name="T36" fmla="*/ 1187 w 1361"/>
              <a:gd name="T37" fmla="*/ 44 h 199"/>
              <a:gd name="T38" fmla="*/ 1298 w 1361"/>
              <a:gd name="T39" fmla="*/ 2 h 199"/>
              <a:gd name="T40" fmla="*/ 1317 w 1361"/>
              <a:gd name="T41" fmla="*/ 155 h 199"/>
              <a:gd name="T42" fmla="*/ 1234 w 1361"/>
              <a:gd name="T43" fmla="*/ 115 h 199"/>
              <a:gd name="T44" fmla="*/ 1234 w 1361"/>
              <a:gd name="T45" fmla="*/ 155 h 199"/>
              <a:gd name="T46" fmla="*/ 389 w 1361"/>
              <a:gd name="T47" fmla="*/ 2 h 199"/>
              <a:gd name="T48" fmla="*/ 452 w 1361"/>
              <a:gd name="T49" fmla="*/ 43 h 199"/>
              <a:gd name="T50" fmla="*/ 496 w 1361"/>
              <a:gd name="T51" fmla="*/ 196 h 199"/>
              <a:gd name="T52" fmla="*/ 558 w 1361"/>
              <a:gd name="T53" fmla="*/ 43 h 199"/>
              <a:gd name="T54" fmla="*/ 389 w 1361"/>
              <a:gd name="T55" fmla="*/ 2 h 199"/>
              <a:gd name="T56" fmla="*/ 1004 w 1361"/>
              <a:gd name="T57" fmla="*/ 43 h 199"/>
              <a:gd name="T58" fmla="*/ 1066 w 1361"/>
              <a:gd name="T59" fmla="*/ 196 h 199"/>
              <a:gd name="T60" fmla="*/ 1110 w 1361"/>
              <a:gd name="T61" fmla="*/ 43 h 199"/>
              <a:gd name="T62" fmla="*/ 1173 w 1361"/>
              <a:gd name="T63" fmla="*/ 2 h 199"/>
              <a:gd name="T64" fmla="*/ 732 w 1361"/>
              <a:gd name="T65" fmla="*/ 196 h 199"/>
              <a:gd name="T66" fmla="*/ 612 w 1361"/>
              <a:gd name="T67" fmla="*/ 2 h 199"/>
              <a:gd name="T68" fmla="*/ 794 w 1361"/>
              <a:gd name="T69" fmla="*/ 70 h 199"/>
              <a:gd name="T70" fmla="*/ 732 w 1361"/>
              <a:gd name="T71" fmla="*/ 196 h 199"/>
              <a:gd name="T72" fmla="*/ 727 w 1361"/>
              <a:gd name="T73" fmla="*/ 44 h 199"/>
              <a:gd name="T74" fmla="*/ 656 w 1361"/>
              <a:gd name="T75" fmla="*/ 155 h 199"/>
              <a:gd name="T76" fmla="*/ 749 w 1361"/>
              <a:gd name="T77" fmla="*/ 129 h 199"/>
              <a:gd name="T78" fmla="*/ 145 w 1361"/>
              <a:gd name="T79" fmla="*/ 150 h 199"/>
              <a:gd name="T80" fmla="*/ 40 w 1361"/>
              <a:gd name="T81" fmla="*/ 0 h 199"/>
              <a:gd name="T82" fmla="*/ 0 w 1361"/>
              <a:gd name="T83" fmla="*/ 197 h 199"/>
              <a:gd name="T84" fmla="*/ 44 w 1361"/>
              <a:gd name="T85" fmla="*/ 76 h 199"/>
              <a:gd name="T86" fmla="*/ 44 w 1361"/>
              <a:gd name="T87" fmla="*/ 47 h 199"/>
              <a:gd name="T88" fmla="*/ 115 w 1361"/>
              <a:gd name="T89" fmla="*/ 177 h 199"/>
              <a:gd name="T90" fmla="*/ 192 w 1361"/>
              <a:gd name="T91" fmla="*/ 147 h 199"/>
              <a:gd name="T92" fmla="*/ 148 w 1361"/>
              <a:gd name="T93" fmla="*/ 2 h 199"/>
              <a:gd name="T94" fmla="*/ 149 w 1361"/>
              <a:gd name="T95" fmla="*/ 148 h 199"/>
              <a:gd name="T96" fmla="*/ 145 w 1361"/>
              <a:gd name="T97" fmla="*/ 150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361" h="199">
                <a:moveTo>
                  <a:pt x="375" y="2"/>
                </a:moveTo>
                <a:cubicBezTo>
                  <a:pt x="375" y="43"/>
                  <a:pt x="375" y="43"/>
                  <a:pt x="375" y="43"/>
                </a:cubicBezTo>
                <a:cubicBezTo>
                  <a:pt x="375" y="43"/>
                  <a:pt x="318" y="43"/>
                  <a:pt x="313" y="43"/>
                </a:cubicBezTo>
                <a:cubicBezTo>
                  <a:pt x="313" y="48"/>
                  <a:pt x="313" y="196"/>
                  <a:pt x="313" y="196"/>
                </a:cubicBezTo>
                <a:cubicBezTo>
                  <a:pt x="269" y="196"/>
                  <a:pt x="269" y="196"/>
                  <a:pt x="269" y="196"/>
                </a:cubicBezTo>
                <a:cubicBezTo>
                  <a:pt x="269" y="196"/>
                  <a:pt x="269" y="48"/>
                  <a:pt x="269" y="43"/>
                </a:cubicBezTo>
                <a:cubicBezTo>
                  <a:pt x="265" y="43"/>
                  <a:pt x="207" y="43"/>
                  <a:pt x="207" y="43"/>
                </a:cubicBezTo>
                <a:cubicBezTo>
                  <a:pt x="207" y="2"/>
                  <a:pt x="207" y="2"/>
                  <a:pt x="207" y="2"/>
                </a:cubicBezTo>
                <a:lnTo>
                  <a:pt x="375" y="2"/>
                </a:lnTo>
                <a:close/>
                <a:moveTo>
                  <a:pt x="995" y="69"/>
                </a:moveTo>
                <a:cubicBezTo>
                  <a:pt x="995" y="196"/>
                  <a:pt x="995" y="196"/>
                  <a:pt x="995" y="196"/>
                </a:cubicBezTo>
                <a:cubicBezTo>
                  <a:pt x="864" y="196"/>
                  <a:pt x="864" y="196"/>
                  <a:pt x="864" y="196"/>
                </a:cubicBezTo>
                <a:cubicBezTo>
                  <a:pt x="828" y="196"/>
                  <a:pt x="811" y="181"/>
                  <a:pt x="811" y="141"/>
                </a:cubicBezTo>
                <a:cubicBezTo>
                  <a:pt x="811" y="132"/>
                  <a:pt x="811" y="132"/>
                  <a:pt x="811" y="132"/>
                </a:cubicBezTo>
                <a:cubicBezTo>
                  <a:pt x="811" y="93"/>
                  <a:pt x="828" y="76"/>
                  <a:pt x="862" y="76"/>
                </a:cubicBezTo>
                <a:cubicBezTo>
                  <a:pt x="862" y="76"/>
                  <a:pt x="947" y="76"/>
                  <a:pt x="951" y="76"/>
                </a:cubicBezTo>
                <a:cubicBezTo>
                  <a:pt x="951" y="75"/>
                  <a:pt x="951" y="69"/>
                  <a:pt x="951" y="69"/>
                </a:cubicBezTo>
                <a:cubicBezTo>
                  <a:pt x="951" y="51"/>
                  <a:pt x="945" y="44"/>
                  <a:pt x="929" y="44"/>
                </a:cubicBezTo>
                <a:cubicBezTo>
                  <a:pt x="821" y="44"/>
                  <a:pt x="821" y="44"/>
                  <a:pt x="821" y="44"/>
                </a:cubicBezTo>
                <a:cubicBezTo>
                  <a:pt x="821" y="2"/>
                  <a:pt x="821" y="2"/>
                  <a:pt x="821" y="2"/>
                </a:cubicBezTo>
                <a:cubicBezTo>
                  <a:pt x="932" y="2"/>
                  <a:pt x="932" y="2"/>
                  <a:pt x="932" y="2"/>
                </a:cubicBezTo>
                <a:cubicBezTo>
                  <a:pt x="979" y="2"/>
                  <a:pt x="995" y="20"/>
                  <a:pt x="995" y="69"/>
                </a:cubicBezTo>
                <a:close/>
                <a:moveTo>
                  <a:pt x="951" y="155"/>
                </a:moveTo>
                <a:cubicBezTo>
                  <a:pt x="951" y="115"/>
                  <a:pt x="951" y="115"/>
                  <a:pt x="951" y="115"/>
                </a:cubicBezTo>
                <a:cubicBezTo>
                  <a:pt x="947" y="115"/>
                  <a:pt x="868" y="115"/>
                  <a:pt x="868" y="115"/>
                </a:cubicBezTo>
                <a:cubicBezTo>
                  <a:pt x="862" y="115"/>
                  <a:pt x="854" y="118"/>
                  <a:pt x="854" y="135"/>
                </a:cubicBezTo>
                <a:cubicBezTo>
                  <a:pt x="854" y="152"/>
                  <a:pt x="862" y="155"/>
                  <a:pt x="868" y="155"/>
                </a:cubicBezTo>
                <a:cubicBezTo>
                  <a:pt x="868" y="155"/>
                  <a:pt x="947" y="155"/>
                  <a:pt x="951" y="155"/>
                </a:cubicBezTo>
                <a:close/>
                <a:moveTo>
                  <a:pt x="1361" y="69"/>
                </a:moveTo>
                <a:cubicBezTo>
                  <a:pt x="1361" y="196"/>
                  <a:pt x="1361" y="196"/>
                  <a:pt x="1361" y="196"/>
                </a:cubicBezTo>
                <a:cubicBezTo>
                  <a:pt x="1230" y="196"/>
                  <a:pt x="1230" y="196"/>
                  <a:pt x="1230" y="196"/>
                </a:cubicBezTo>
                <a:cubicBezTo>
                  <a:pt x="1194" y="196"/>
                  <a:pt x="1177" y="181"/>
                  <a:pt x="1177" y="141"/>
                </a:cubicBezTo>
                <a:cubicBezTo>
                  <a:pt x="1177" y="132"/>
                  <a:pt x="1177" y="132"/>
                  <a:pt x="1177" y="132"/>
                </a:cubicBezTo>
                <a:cubicBezTo>
                  <a:pt x="1177" y="93"/>
                  <a:pt x="1194" y="76"/>
                  <a:pt x="1228" y="76"/>
                </a:cubicBezTo>
                <a:cubicBezTo>
                  <a:pt x="1228" y="76"/>
                  <a:pt x="1313" y="76"/>
                  <a:pt x="1317" y="76"/>
                </a:cubicBezTo>
                <a:cubicBezTo>
                  <a:pt x="1317" y="75"/>
                  <a:pt x="1317" y="69"/>
                  <a:pt x="1317" y="69"/>
                </a:cubicBezTo>
                <a:cubicBezTo>
                  <a:pt x="1317" y="51"/>
                  <a:pt x="1311" y="44"/>
                  <a:pt x="1295" y="44"/>
                </a:cubicBezTo>
                <a:cubicBezTo>
                  <a:pt x="1187" y="44"/>
                  <a:pt x="1187" y="44"/>
                  <a:pt x="1187" y="44"/>
                </a:cubicBezTo>
                <a:cubicBezTo>
                  <a:pt x="1187" y="2"/>
                  <a:pt x="1187" y="2"/>
                  <a:pt x="1187" y="2"/>
                </a:cubicBezTo>
                <a:cubicBezTo>
                  <a:pt x="1298" y="2"/>
                  <a:pt x="1298" y="2"/>
                  <a:pt x="1298" y="2"/>
                </a:cubicBezTo>
                <a:cubicBezTo>
                  <a:pt x="1345" y="2"/>
                  <a:pt x="1361" y="20"/>
                  <a:pt x="1361" y="69"/>
                </a:cubicBezTo>
                <a:close/>
                <a:moveTo>
                  <a:pt x="1317" y="155"/>
                </a:moveTo>
                <a:cubicBezTo>
                  <a:pt x="1317" y="115"/>
                  <a:pt x="1317" y="115"/>
                  <a:pt x="1317" y="115"/>
                </a:cubicBezTo>
                <a:cubicBezTo>
                  <a:pt x="1313" y="115"/>
                  <a:pt x="1234" y="115"/>
                  <a:pt x="1234" y="115"/>
                </a:cubicBezTo>
                <a:cubicBezTo>
                  <a:pt x="1228" y="115"/>
                  <a:pt x="1220" y="118"/>
                  <a:pt x="1220" y="135"/>
                </a:cubicBezTo>
                <a:cubicBezTo>
                  <a:pt x="1220" y="152"/>
                  <a:pt x="1228" y="155"/>
                  <a:pt x="1234" y="155"/>
                </a:cubicBezTo>
                <a:cubicBezTo>
                  <a:pt x="1234" y="155"/>
                  <a:pt x="1313" y="155"/>
                  <a:pt x="1317" y="155"/>
                </a:cubicBezTo>
                <a:close/>
                <a:moveTo>
                  <a:pt x="389" y="2"/>
                </a:moveTo>
                <a:cubicBezTo>
                  <a:pt x="389" y="43"/>
                  <a:pt x="389" y="43"/>
                  <a:pt x="389" y="43"/>
                </a:cubicBezTo>
                <a:cubicBezTo>
                  <a:pt x="389" y="43"/>
                  <a:pt x="447" y="43"/>
                  <a:pt x="452" y="43"/>
                </a:cubicBezTo>
                <a:cubicBezTo>
                  <a:pt x="452" y="48"/>
                  <a:pt x="452" y="196"/>
                  <a:pt x="452" y="196"/>
                </a:cubicBezTo>
                <a:cubicBezTo>
                  <a:pt x="496" y="196"/>
                  <a:pt x="496" y="196"/>
                  <a:pt x="496" y="196"/>
                </a:cubicBezTo>
                <a:cubicBezTo>
                  <a:pt x="496" y="196"/>
                  <a:pt x="496" y="48"/>
                  <a:pt x="496" y="43"/>
                </a:cubicBezTo>
                <a:cubicBezTo>
                  <a:pt x="500" y="43"/>
                  <a:pt x="558" y="43"/>
                  <a:pt x="558" y="43"/>
                </a:cubicBezTo>
                <a:cubicBezTo>
                  <a:pt x="558" y="2"/>
                  <a:pt x="558" y="2"/>
                  <a:pt x="558" y="2"/>
                </a:cubicBezTo>
                <a:lnTo>
                  <a:pt x="389" y="2"/>
                </a:lnTo>
                <a:close/>
                <a:moveTo>
                  <a:pt x="1004" y="2"/>
                </a:moveTo>
                <a:cubicBezTo>
                  <a:pt x="1004" y="43"/>
                  <a:pt x="1004" y="43"/>
                  <a:pt x="1004" y="43"/>
                </a:cubicBezTo>
                <a:cubicBezTo>
                  <a:pt x="1004" y="43"/>
                  <a:pt x="1062" y="43"/>
                  <a:pt x="1066" y="43"/>
                </a:cubicBezTo>
                <a:cubicBezTo>
                  <a:pt x="1066" y="48"/>
                  <a:pt x="1066" y="196"/>
                  <a:pt x="1066" y="196"/>
                </a:cubicBezTo>
                <a:cubicBezTo>
                  <a:pt x="1110" y="196"/>
                  <a:pt x="1110" y="196"/>
                  <a:pt x="1110" y="196"/>
                </a:cubicBezTo>
                <a:cubicBezTo>
                  <a:pt x="1110" y="196"/>
                  <a:pt x="1110" y="48"/>
                  <a:pt x="1110" y="43"/>
                </a:cubicBezTo>
                <a:cubicBezTo>
                  <a:pt x="1115" y="43"/>
                  <a:pt x="1173" y="43"/>
                  <a:pt x="1173" y="43"/>
                </a:cubicBezTo>
                <a:cubicBezTo>
                  <a:pt x="1173" y="2"/>
                  <a:pt x="1173" y="2"/>
                  <a:pt x="1173" y="2"/>
                </a:cubicBezTo>
                <a:lnTo>
                  <a:pt x="1004" y="2"/>
                </a:lnTo>
                <a:close/>
                <a:moveTo>
                  <a:pt x="732" y="196"/>
                </a:moveTo>
                <a:cubicBezTo>
                  <a:pt x="612" y="196"/>
                  <a:pt x="612" y="196"/>
                  <a:pt x="612" y="196"/>
                </a:cubicBezTo>
                <a:cubicBezTo>
                  <a:pt x="612" y="2"/>
                  <a:pt x="612" y="2"/>
                  <a:pt x="612" y="2"/>
                </a:cubicBezTo>
                <a:cubicBezTo>
                  <a:pt x="730" y="2"/>
                  <a:pt x="730" y="2"/>
                  <a:pt x="730" y="2"/>
                </a:cubicBezTo>
                <a:cubicBezTo>
                  <a:pt x="774" y="2"/>
                  <a:pt x="794" y="20"/>
                  <a:pt x="794" y="70"/>
                </a:cubicBezTo>
                <a:cubicBezTo>
                  <a:pt x="794" y="128"/>
                  <a:pt x="794" y="128"/>
                  <a:pt x="794" y="128"/>
                </a:cubicBezTo>
                <a:cubicBezTo>
                  <a:pt x="794" y="173"/>
                  <a:pt x="779" y="196"/>
                  <a:pt x="732" y="196"/>
                </a:cubicBezTo>
                <a:close/>
                <a:moveTo>
                  <a:pt x="749" y="70"/>
                </a:moveTo>
                <a:cubicBezTo>
                  <a:pt x="749" y="51"/>
                  <a:pt x="743" y="44"/>
                  <a:pt x="727" y="44"/>
                </a:cubicBezTo>
                <a:cubicBezTo>
                  <a:pt x="727" y="44"/>
                  <a:pt x="660" y="44"/>
                  <a:pt x="656" y="44"/>
                </a:cubicBezTo>
                <a:cubicBezTo>
                  <a:pt x="656" y="155"/>
                  <a:pt x="656" y="155"/>
                  <a:pt x="656" y="155"/>
                </a:cubicBezTo>
                <a:cubicBezTo>
                  <a:pt x="660" y="155"/>
                  <a:pt x="727" y="155"/>
                  <a:pt x="727" y="155"/>
                </a:cubicBezTo>
                <a:cubicBezTo>
                  <a:pt x="743" y="155"/>
                  <a:pt x="749" y="148"/>
                  <a:pt x="749" y="129"/>
                </a:cubicBezTo>
                <a:cubicBezTo>
                  <a:pt x="749" y="129"/>
                  <a:pt x="749" y="70"/>
                  <a:pt x="749" y="70"/>
                </a:cubicBezTo>
                <a:close/>
                <a:moveTo>
                  <a:pt x="145" y="150"/>
                </a:moveTo>
                <a:cubicBezTo>
                  <a:pt x="144" y="148"/>
                  <a:pt x="85" y="34"/>
                  <a:pt x="78" y="22"/>
                </a:cubicBezTo>
                <a:cubicBezTo>
                  <a:pt x="69" y="9"/>
                  <a:pt x="59" y="0"/>
                  <a:pt x="40" y="0"/>
                </a:cubicBezTo>
                <a:cubicBezTo>
                  <a:pt x="22" y="0"/>
                  <a:pt x="0" y="8"/>
                  <a:pt x="0" y="51"/>
                </a:cubicBezTo>
                <a:cubicBezTo>
                  <a:pt x="0" y="197"/>
                  <a:pt x="0" y="197"/>
                  <a:pt x="0" y="197"/>
                </a:cubicBezTo>
                <a:cubicBezTo>
                  <a:pt x="44" y="197"/>
                  <a:pt x="44" y="197"/>
                  <a:pt x="44" y="197"/>
                </a:cubicBezTo>
                <a:cubicBezTo>
                  <a:pt x="44" y="197"/>
                  <a:pt x="44" y="84"/>
                  <a:pt x="44" y="76"/>
                </a:cubicBezTo>
                <a:cubicBezTo>
                  <a:pt x="44" y="67"/>
                  <a:pt x="43" y="54"/>
                  <a:pt x="43" y="51"/>
                </a:cubicBezTo>
                <a:cubicBezTo>
                  <a:pt x="43" y="49"/>
                  <a:pt x="43" y="47"/>
                  <a:pt x="44" y="47"/>
                </a:cubicBezTo>
                <a:cubicBezTo>
                  <a:pt x="46" y="46"/>
                  <a:pt x="47" y="47"/>
                  <a:pt x="48" y="49"/>
                </a:cubicBezTo>
                <a:cubicBezTo>
                  <a:pt x="49" y="50"/>
                  <a:pt x="103" y="158"/>
                  <a:pt x="115" y="177"/>
                </a:cubicBezTo>
                <a:cubicBezTo>
                  <a:pt x="123" y="190"/>
                  <a:pt x="133" y="199"/>
                  <a:pt x="153" y="199"/>
                </a:cubicBezTo>
                <a:cubicBezTo>
                  <a:pt x="171" y="199"/>
                  <a:pt x="192" y="191"/>
                  <a:pt x="192" y="147"/>
                </a:cubicBezTo>
                <a:cubicBezTo>
                  <a:pt x="192" y="2"/>
                  <a:pt x="192" y="2"/>
                  <a:pt x="192" y="2"/>
                </a:cubicBezTo>
                <a:cubicBezTo>
                  <a:pt x="148" y="2"/>
                  <a:pt x="148" y="2"/>
                  <a:pt x="148" y="2"/>
                </a:cubicBezTo>
                <a:cubicBezTo>
                  <a:pt x="148" y="2"/>
                  <a:pt x="148" y="115"/>
                  <a:pt x="148" y="123"/>
                </a:cubicBezTo>
                <a:cubicBezTo>
                  <a:pt x="148" y="132"/>
                  <a:pt x="149" y="145"/>
                  <a:pt x="149" y="148"/>
                </a:cubicBezTo>
                <a:cubicBezTo>
                  <a:pt x="149" y="150"/>
                  <a:pt x="149" y="152"/>
                  <a:pt x="148" y="152"/>
                </a:cubicBezTo>
                <a:cubicBezTo>
                  <a:pt x="147" y="153"/>
                  <a:pt x="145" y="152"/>
                  <a:pt x="145" y="1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marL="225425" indent="116205" algn="l" defTabSz="609600" rtl="0" eaLnBrk="1" fontAlgn="base" hangingPunct="1">
        <a:spcBef>
          <a:spcPct val="0"/>
        </a:spcBef>
        <a:spcAft>
          <a:spcPct val="0"/>
        </a:spcAft>
        <a:defRPr kumimoji="1" lang="en-US" sz="2400" b="0" i="0" kern="1200" spc="0" baseline="0" smtClean="0">
          <a:solidFill>
            <a:schemeClr val="tx1"/>
          </a:solidFill>
          <a:latin typeface="+mj-ea"/>
          <a:ea typeface="+mj-ea"/>
          <a:cs typeface="Arial" panose="020B0604020202020204"/>
        </a:defRPr>
      </a:lvl1pPr>
      <a:lvl2pPr algn="l" defTabSz="609600" rtl="0" eaLnBrk="1" fontAlgn="base" hangingPunct="1">
        <a:spcBef>
          <a:spcPct val="0"/>
        </a:spcBef>
        <a:spcAft>
          <a:spcPct val="0"/>
        </a:spcAft>
        <a:defRPr kumimoji="1" sz="2665">
          <a:solidFill>
            <a:schemeClr val="tx1"/>
          </a:solidFill>
          <a:latin typeface="Arial" panose="020B0604020202020204" pitchFamily="34" charset="0"/>
          <a:ea typeface="HGP創英角ｺﾞｼｯｸUB"/>
          <a:cs typeface="Arial" panose="020B0604020202020204" pitchFamily="34" charset="0"/>
        </a:defRPr>
      </a:lvl2pPr>
      <a:lvl3pPr algn="l" defTabSz="609600" rtl="0" eaLnBrk="1" fontAlgn="base" hangingPunct="1">
        <a:spcBef>
          <a:spcPct val="0"/>
        </a:spcBef>
        <a:spcAft>
          <a:spcPct val="0"/>
        </a:spcAft>
        <a:defRPr kumimoji="1" sz="2665">
          <a:solidFill>
            <a:schemeClr val="tx1"/>
          </a:solidFill>
          <a:latin typeface="Arial" panose="020B0604020202020204" pitchFamily="34" charset="0"/>
          <a:ea typeface="HGP創英角ｺﾞｼｯｸUB"/>
          <a:cs typeface="Arial" panose="020B0604020202020204" pitchFamily="34" charset="0"/>
        </a:defRPr>
      </a:lvl3pPr>
      <a:lvl4pPr algn="l" defTabSz="609600" rtl="0" eaLnBrk="1" fontAlgn="base" hangingPunct="1">
        <a:spcBef>
          <a:spcPct val="0"/>
        </a:spcBef>
        <a:spcAft>
          <a:spcPct val="0"/>
        </a:spcAft>
        <a:defRPr kumimoji="1" sz="2665">
          <a:solidFill>
            <a:schemeClr val="tx1"/>
          </a:solidFill>
          <a:latin typeface="Arial" panose="020B0604020202020204" pitchFamily="34" charset="0"/>
          <a:ea typeface="HGP創英角ｺﾞｼｯｸUB"/>
          <a:cs typeface="Arial" panose="020B0604020202020204" pitchFamily="34" charset="0"/>
        </a:defRPr>
      </a:lvl4pPr>
      <a:lvl5pPr algn="l" defTabSz="609600" rtl="0" eaLnBrk="1" fontAlgn="base" hangingPunct="1">
        <a:spcBef>
          <a:spcPct val="0"/>
        </a:spcBef>
        <a:spcAft>
          <a:spcPct val="0"/>
        </a:spcAft>
        <a:defRPr kumimoji="1" sz="2665">
          <a:solidFill>
            <a:schemeClr val="tx1"/>
          </a:solidFill>
          <a:latin typeface="Arial" panose="020B0604020202020204" pitchFamily="34" charset="0"/>
          <a:ea typeface="HGP創英角ｺﾞｼｯｸUB"/>
          <a:cs typeface="Arial" panose="020B0604020202020204" pitchFamily="34" charset="0"/>
        </a:defRPr>
      </a:lvl5pPr>
      <a:lvl6pPr marL="609600" algn="l" defTabSz="609600" rtl="0" eaLnBrk="1" fontAlgn="base" hangingPunct="1">
        <a:spcBef>
          <a:spcPct val="0"/>
        </a:spcBef>
        <a:spcAft>
          <a:spcPct val="0"/>
        </a:spcAft>
        <a:defRPr kumimoji="1" sz="2665">
          <a:solidFill>
            <a:schemeClr val="tx1"/>
          </a:solidFill>
          <a:latin typeface="Arial" panose="020B0604020202020204" pitchFamily="34" charset="0"/>
          <a:ea typeface="HGP創英角ｺﾞｼｯｸUB"/>
          <a:cs typeface="Arial" panose="020B0604020202020204" pitchFamily="34" charset="0"/>
        </a:defRPr>
      </a:lvl6pPr>
      <a:lvl7pPr marL="1219200" algn="l" defTabSz="609600" rtl="0" eaLnBrk="1" fontAlgn="base" hangingPunct="1">
        <a:spcBef>
          <a:spcPct val="0"/>
        </a:spcBef>
        <a:spcAft>
          <a:spcPct val="0"/>
        </a:spcAft>
        <a:defRPr kumimoji="1" sz="2665">
          <a:solidFill>
            <a:schemeClr val="tx1"/>
          </a:solidFill>
          <a:latin typeface="Arial" panose="020B0604020202020204" pitchFamily="34" charset="0"/>
          <a:ea typeface="HGP創英角ｺﾞｼｯｸUB"/>
          <a:cs typeface="Arial" panose="020B0604020202020204" pitchFamily="34" charset="0"/>
        </a:defRPr>
      </a:lvl7pPr>
      <a:lvl8pPr marL="1828800" algn="l" defTabSz="609600" rtl="0" eaLnBrk="1" fontAlgn="base" hangingPunct="1">
        <a:spcBef>
          <a:spcPct val="0"/>
        </a:spcBef>
        <a:spcAft>
          <a:spcPct val="0"/>
        </a:spcAft>
        <a:defRPr kumimoji="1" sz="2665">
          <a:solidFill>
            <a:schemeClr val="tx1"/>
          </a:solidFill>
          <a:latin typeface="Arial" panose="020B0604020202020204" pitchFamily="34" charset="0"/>
          <a:ea typeface="HGP創英角ｺﾞｼｯｸUB"/>
          <a:cs typeface="Arial" panose="020B0604020202020204" pitchFamily="34" charset="0"/>
        </a:defRPr>
      </a:lvl8pPr>
      <a:lvl9pPr marL="2438400" algn="l" defTabSz="609600" rtl="0" eaLnBrk="1" fontAlgn="base" hangingPunct="1">
        <a:spcBef>
          <a:spcPct val="0"/>
        </a:spcBef>
        <a:spcAft>
          <a:spcPct val="0"/>
        </a:spcAft>
        <a:defRPr kumimoji="1" sz="2665">
          <a:solidFill>
            <a:schemeClr val="tx1"/>
          </a:solidFill>
          <a:latin typeface="Arial" panose="020B0604020202020204" pitchFamily="34" charset="0"/>
          <a:ea typeface="HGP創英角ｺﾞｼｯｸUB"/>
          <a:cs typeface="Arial" panose="020B0604020202020204" pitchFamily="34" charset="0"/>
        </a:defRPr>
      </a:lvl9pPr>
    </p:titleStyle>
    <p:bodyStyle>
      <a:lvl1pPr marL="226695" indent="-226695" algn="l" defTabSz="6096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909955" indent="-300355" algn="l" defTabSz="6096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665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454150" indent="-234950" algn="l" defTabSz="6096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665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2059305" indent="-230505" algn="l" defTabSz="6096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665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667000" indent="-228600" algn="l" defTabSz="6096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665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33528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kumimoji="1"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kumimoji="1"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kumimoji="1"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kumimoji="1"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60960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60960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60960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60960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think-cell Slide" r:id="rId3" imgW="12700" imgH="12700" progId="TCLayout.ActiveDocument.1">
                  <p:embed/>
                </p:oleObj>
              </mc:Choice>
              <mc:Fallback>
                <p:oleObj name="think-cell Slide" r:id="rId3" imgW="12700" imgH="12700" progId="TCLayout.ActiveDocument.1">
                  <p:embed/>
                  <p:pic>
                    <p:nvPicPr>
                      <p:cNvPr id="0" name="Object 2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4813" y="1327150"/>
            <a:ext cx="11376880" cy="51355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04813" y="388188"/>
            <a:ext cx="10947772" cy="71671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/>
              <a:t>CLICK TO INSERT TITLE</a:t>
            </a:r>
            <a:endParaRPr lang="en-US"/>
          </a:p>
        </p:txBody>
      </p:sp>
      <p:grpSp>
        <p:nvGrpSpPr>
          <p:cNvPr id="94" name="Groupe 1"/>
          <p:cNvGrpSpPr>
            <a:grpSpLocks noChangeAspect="1"/>
          </p:cNvGrpSpPr>
          <p:nvPr userDrawn="1"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95" name="Freeform 13"/>
            <p:cNvSpPr/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  <p:sp>
          <p:nvSpPr>
            <p:cNvPr id="96" name="Freeform 14"/>
            <p:cNvSpPr/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/>
            </a:p>
          </p:txBody>
        </p:sp>
      </p:grpSp>
      <p:sp>
        <p:nvSpPr>
          <p:cNvPr id="65" name="Rectangle 27"/>
          <p:cNvSpPr/>
          <p:nvPr userDrawn="1"/>
        </p:nvSpPr>
        <p:spPr>
          <a:xfrm>
            <a:off x="404813" y="6571518"/>
            <a:ext cx="2489464" cy="107722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700" ker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Helix Connector Proposal for Burberry  |  CIAP  |  August 2022</a:t>
            </a:r>
            <a:endParaRPr lang="en-US" sz="700" kern="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tângulo 43"/>
          <p:cNvSpPr/>
          <p:nvPr userDrawn="1"/>
        </p:nvSpPr>
        <p:spPr>
          <a:xfrm>
            <a:off x="11791753" y="6566999"/>
            <a:ext cx="229263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/>
          <a:p>
            <a:pPr algn="l"/>
            <a:fld id="{0502E5A9-B53C-401E-A0E0-4A359BB0A9E5}" type="slidenum">
              <a:rPr lang="en-US" sz="800" smtClea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</a:fld>
            <a:endParaRPr lang="en-US" sz="8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89" name="Rectangle 27"/>
          <p:cNvSpPr/>
          <p:nvPr userDrawn="1"/>
        </p:nvSpPr>
        <p:spPr>
          <a:xfrm>
            <a:off x="9178396" y="6571518"/>
            <a:ext cx="2580836" cy="107722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70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Company Confidential © Capgemini 2022. All rights reserved  |</a:t>
            </a:r>
            <a:endParaRPr lang="en-GB" sz="7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defRPr kumimoji="0" lang="en-US" sz="2600" b="0" i="0" u="none" strike="noStrike" kern="1200" cap="all" spc="0" normalizeH="0" baseline="0" noProof="0" dirty="0">
          <a:ln>
            <a:noFill/>
          </a:ln>
          <a:solidFill>
            <a:schemeClr val="accent4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2pPr>
      <a:lvl3pPr marL="36195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3pPr>
      <a:lvl4pPr marL="53975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Ubuntu" panose="020B0504030602030204" pitchFamily="34" charset="0"/>
        <a:buChar char="–"/>
        <a:defRPr sz="1400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4pPr>
      <a:lvl5pPr marL="71755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18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4050" y="622811"/>
            <a:ext cx="2239484" cy="499636"/>
          </a:xfrm>
          <a:prstGeom prst="rect">
            <a:avLst/>
          </a:prstGeom>
        </p:spPr>
      </p:pic>
      <p:sp>
        <p:nvSpPr>
          <p:cNvPr id="19" name="Graphic 13"/>
          <p:cNvSpPr/>
          <p:nvPr/>
        </p:nvSpPr>
        <p:spPr>
          <a:xfrm rot="2013913">
            <a:off x="450896" y="-261922"/>
            <a:ext cx="8351985" cy="6323030"/>
          </a:xfrm>
          <a:custGeom>
            <a:avLst/>
            <a:gdLst>
              <a:gd name="connsiteX0" fmla="*/ 36195 w 8117205"/>
              <a:gd name="connsiteY0" fmla="*/ 4710199 h 4710198"/>
              <a:gd name="connsiteX1" fmla="*/ 0 w 8117205"/>
              <a:gd name="connsiteY1" fmla="*/ 4697817 h 4710198"/>
              <a:gd name="connsiteX2" fmla="*/ 538163 w 8117205"/>
              <a:gd name="connsiteY2" fmla="*/ 3739602 h 4710198"/>
              <a:gd name="connsiteX3" fmla="*/ 1340168 w 8117205"/>
              <a:gd name="connsiteY3" fmla="*/ 2915689 h 4710198"/>
              <a:gd name="connsiteX4" fmla="*/ 2613660 w 8117205"/>
              <a:gd name="connsiteY4" fmla="*/ 2190837 h 4710198"/>
              <a:gd name="connsiteX5" fmla="*/ 2621280 w 8117205"/>
              <a:gd name="connsiteY5" fmla="*/ 2187979 h 4710198"/>
              <a:gd name="connsiteX6" fmla="*/ 2628900 w 8117205"/>
              <a:gd name="connsiteY6" fmla="*/ 2191789 h 4710198"/>
              <a:gd name="connsiteX7" fmla="*/ 4513898 w 8117205"/>
              <a:gd name="connsiteY7" fmla="*/ 2830917 h 4710198"/>
              <a:gd name="connsiteX8" fmla="*/ 5841683 w 8117205"/>
              <a:gd name="connsiteY8" fmla="*/ 2599459 h 4710198"/>
              <a:gd name="connsiteX9" fmla="*/ 6102668 w 8117205"/>
              <a:gd name="connsiteY9" fmla="*/ 1288819 h 4710198"/>
              <a:gd name="connsiteX10" fmla="*/ 6256020 w 8117205"/>
              <a:gd name="connsiteY10" fmla="*/ 204874 h 4710198"/>
              <a:gd name="connsiteX11" fmla="*/ 7391400 w 8117205"/>
              <a:gd name="connsiteY11" fmla="*/ 43901 h 4710198"/>
              <a:gd name="connsiteX12" fmla="*/ 8117205 w 8117205"/>
              <a:gd name="connsiteY12" fmla="*/ 242021 h 4710198"/>
              <a:gd name="connsiteX13" fmla="*/ 8102918 w 8117205"/>
              <a:gd name="connsiteY13" fmla="*/ 277264 h 4710198"/>
              <a:gd name="connsiteX14" fmla="*/ 7384733 w 8117205"/>
              <a:gd name="connsiteY14" fmla="*/ 82001 h 4710198"/>
              <a:gd name="connsiteX15" fmla="*/ 6281738 w 8117205"/>
              <a:gd name="connsiteY15" fmla="*/ 233449 h 4710198"/>
              <a:gd name="connsiteX16" fmla="*/ 6139815 w 8117205"/>
              <a:gd name="connsiteY16" fmla="*/ 1279294 h 4710198"/>
              <a:gd name="connsiteX17" fmla="*/ 6187440 w 8117205"/>
              <a:gd name="connsiteY17" fmla="*/ 2101302 h 4710198"/>
              <a:gd name="connsiteX18" fmla="*/ 5866448 w 8117205"/>
              <a:gd name="connsiteY18" fmla="*/ 2629939 h 4710198"/>
              <a:gd name="connsiteX19" fmla="*/ 4510088 w 8117205"/>
              <a:gd name="connsiteY19" fmla="*/ 2869969 h 4710198"/>
              <a:gd name="connsiteX20" fmla="*/ 2620328 w 8117205"/>
              <a:gd name="connsiteY20" fmla="*/ 2230842 h 4710198"/>
              <a:gd name="connsiteX21" fmla="*/ 568643 w 8117205"/>
              <a:gd name="connsiteY21" fmla="*/ 3763414 h 4710198"/>
              <a:gd name="connsiteX22" fmla="*/ 36195 w 8117205"/>
              <a:gd name="connsiteY22" fmla="*/ 4710199 h 4710198"/>
              <a:gd name="connsiteX0-1" fmla="*/ 36195 w 8117205"/>
              <a:gd name="connsiteY0-2" fmla="*/ 4710199 h 4710199"/>
              <a:gd name="connsiteX1-3" fmla="*/ 0 w 8117205"/>
              <a:gd name="connsiteY1-4" fmla="*/ 4697817 h 4710199"/>
              <a:gd name="connsiteX2-5" fmla="*/ 538163 w 8117205"/>
              <a:gd name="connsiteY2-6" fmla="*/ 3739602 h 4710199"/>
              <a:gd name="connsiteX3-7" fmla="*/ 1340168 w 8117205"/>
              <a:gd name="connsiteY3-8" fmla="*/ 2915689 h 4710199"/>
              <a:gd name="connsiteX4-9" fmla="*/ 2613660 w 8117205"/>
              <a:gd name="connsiteY4-10" fmla="*/ 2190837 h 4710199"/>
              <a:gd name="connsiteX5-11" fmla="*/ 2621280 w 8117205"/>
              <a:gd name="connsiteY5-12" fmla="*/ 2187979 h 4710199"/>
              <a:gd name="connsiteX6-13" fmla="*/ 2628900 w 8117205"/>
              <a:gd name="connsiteY6-14" fmla="*/ 2191789 h 4710199"/>
              <a:gd name="connsiteX7-15" fmla="*/ 4513898 w 8117205"/>
              <a:gd name="connsiteY7-16" fmla="*/ 2830917 h 4710199"/>
              <a:gd name="connsiteX8-17" fmla="*/ 5841683 w 8117205"/>
              <a:gd name="connsiteY8-18" fmla="*/ 2599459 h 4710199"/>
              <a:gd name="connsiteX9-19" fmla="*/ 6102668 w 8117205"/>
              <a:gd name="connsiteY9-20" fmla="*/ 1288819 h 4710199"/>
              <a:gd name="connsiteX10-21" fmla="*/ 6256020 w 8117205"/>
              <a:gd name="connsiteY10-22" fmla="*/ 204874 h 4710199"/>
              <a:gd name="connsiteX11-23" fmla="*/ 7391400 w 8117205"/>
              <a:gd name="connsiteY11-24" fmla="*/ 43901 h 4710199"/>
              <a:gd name="connsiteX12-25" fmla="*/ 8117205 w 8117205"/>
              <a:gd name="connsiteY12-26" fmla="*/ 242021 h 4710199"/>
              <a:gd name="connsiteX13-27" fmla="*/ 7384733 w 8117205"/>
              <a:gd name="connsiteY13-28" fmla="*/ 82001 h 4710199"/>
              <a:gd name="connsiteX14-29" fmla="*/ 6281738 w 8117205"/>
              <a:gd name="connsiteY14-30" fmla="*/ 233449 h 4710199"/>
              <a:gd name="connsiteX15-31" fmla="*/ 6139815 w 8117205"/>
              <a:gd name="connsiteY15-32" fmla="*/ 1279294 h 4710199"/>
              <a:gd name="connsiteX16-33" fmla="*/ 6187440 w 8117205"/>
              <a:gd name="connsiteY16-34" fmla="*/ 2101302 h 4710199"/>
              <a:gd name="connsiteX17-35" fmla="*/ 5866448 w 8117205"/>
              <a:gd name="connsiteY17-36" fmla="*/ 2629939 h 4710199"/>
              <a:gd name="connsiteX18-37" fmla="*/ 4510088 w 8117205"/>
              <a:gd name="connsiteY18-38" fmla="*/ 2869969 h 4710199"/>
              <a:gd name="connsiteX19-39" fmla="*/ 2620328 w 8117205"/>
              <a:gd name="connsiteY19-40" fmla="*/ 2230842 h 4710199"/>
              <a:gd name="connsiteX20-41" fmla="*/ 568643 w 8117205"/>
              <a:gd name="connsiteY20-42" fmla="*/ 3763414 h 4710199"/>
              <a:gd name="connsiteX21-43" fmla="*/ 36195 w 8117205"/>
              <a:gd name="connsiteY21-44" fmla="*/ 4710199 h 4710199"/>
              <a:gd name="connsiteX0-45" fmla="*/ 36195 w 7528033"/>
              <a:gd name="connsiteY0-46" fmla="*/ 4673434 h 4673434"/>
              <a:gd name="connsiteX1-47" fmla="*/ 0 w 7528033"/>
              <a:gd name="connsiteY1-48" fmla="*/ 4661052 h 4673434"/>
              <a:gd name="connsiteX2-49" fmla="*/ 538163 w 7528033"/>
              <a:gd name="connsiteY2-50" fmla="*/ 3702837 h 4673434"/>
              <a:gd name="connsiteX3-51" fmla="*/ 1340168 w 7528033"/>
              <a:gd name="connsiteY3-52" fmla="*/ 2878924 h 4673434"/>
              <a:gd name="connsiteX4-53" fmla="*/ 2613660 w 7528033"/>
              <a:gd name="connsiteY4-54" fmla="*/ 2154072 h 4673434"/>
              <a:gd name="connsiteX5-55" fmla="*/ 2621280 w 7528033"/>
              <a:gd name="connsiteY5-56" fmla="*/ 2151214 h 4673434"/>
              <a:gd name="connsiteX6-57" fmla="*/ 2628900 w 7528033"/>
              <a:gd name="connsiteY6-58" fmla="*/ 2155024 h 4673434"/>
              <a:gd name="connsiteX7-59" fmla="*/ 4513898 w 7528033"/>
              <a:gd name="connsiteY7-60" fmla="*/ 2794152 h 4673434"/>
              <a:gd name="connsiteX8-61" fmla="*/ 5841683 w 7528033"/>
              <a:gd name="connsiteY8-62" fmla="*/ 2562694 h 4673434"/>
              <a:gd name="connsiteX9-63" fmla="*/ 6102668 w 7528033"/>
              <a:gd name="connsiteY9-64" fmla="*/ 1252054 h 4673434"/>
              <a:gd name="connsiteX10-65" fmla="*/ 6256020 w 7528033"/>
              <a:gd name="connsiteY10-66" fmla="*/ 168109 h 4673434"/>
              <a:gd name="connsiteX11-67" fmla="*/ 7391400 w 7528033"/>
              <a:gd name="connsiteY11-68" fmla="*/ 7136 h 4673434"/>
              <a:gd name="connsiteX12-69" fmla="*/ 7384733 w 7528033"/>
              <a:gd name="connsiteY12-70" fmla="*/ 45236 h 4673434"/>
              <a:gd name="connsiteX13-71" fmla="*/ 6281738 w 7528033"/>
              <a:gd name="connsiteY13-72" fmla="*/ 196684 h 4673434"/>
              <a:gd name="connsiteX14-73" fmla="*/ 6139815 w 7528033"/>
              <a:gd name="connsiteY14-74" fmla="*/ 1242529 h 4673434"/>
              <a:gd name="connsiteX15-75" fmla="*/ 6187440 w 7528033"/>
              <a:gd name="connsiteY15-76" fmla="*/ 2064537 h 4673434"/>
              <a:gd name="connsiteX16-77" fmla="*/ 5866448 w 7528033"/>
              <a:gd name="connsiteY16-78" fmla="*/ 2593174 h 4673434"/>
              <a:gd name="connsiteX17-79" fmla="*/ 4510088 w 7528033"/>
              <a:gd name="connsiteY17-80" fmla="*/ 2833204 h 4673434"/>
              <a:gd name="connsiteX18-81" fmla="*/ 2620328 w 7528033"/>
              <a:gd name="connsiteY18-82" fmla="*/ 2194077 h 4673434"/>
              <a:gd name="connsiteX19-83" fmla="*/ 568643 w 7528033"/>
              <a:gd name="connsiteY19-84" fmla="*/ 3726649 h 4673434"/>
              <a:gd name="connsiteX20-85" fmla="*/ 36195 w 7528033"/>
              <a:gd name="connsiteY20-86" fmla="*/ 4673434 h 46734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</a:cxnLst>
            <a:rect l="l" t="t" r="r" b="b"/>
            <a:pathLst>
              <a:path w="7528033" h="4673434">
                <a:moveTo>
                  <a:pt x="36195" y="4673434"/>
                </a:moveTo>
                <a:lnTo>
                  <a:pt x="0" y="4661052"/>
                </a:lnTo>
                <a:cubicBezTo>
                  <a:pt x="953" y="4656289"/>
                  <a:pt x="145733" y="4224807"/>
                  <a:pt x="538163" y="3702837"/>
                </a:cubicBezTo>
                <a:cubicBezTo>
                  <a:pt x="768668" y="3396132"/>
                  <a:pt x="1038225" y="3118954"/>
                  <a:pt x="1340168" y="2878924"/>
                </a:cubicBezTo>
                <a:cubicBezTo>
                  <a:pt x="1717358" y="2577934"/>
                  <a:pt x="2145983" y="2334094"/>
                  <a:pt x="2613660" y="2154072"/>
                </a:cubicBezTo>
                <a:lnTo>
                  <a:pt x="2621280" y="2151214"/>
                </a:lnTo>
                <a:lnTo>
                  <a:pt x="2628900" y="2155024"/>
                </a:lnTo>
                <a:cubicBezTo>
                  <a:pt x="3289935" y="2497924"/>
                  <a:pt x="3941445" y="2718904"/>
                  <a:pt x="4513898" y="2794152"/>
                </a:cubicBezTo>
                <a:cubicBezTo>
                  <a:pt x="5095875" y="2871304"/>
                  <a:pt x="5554980" y="2790341"/>
                  <a:pt x="5841683" y="2562694"/>
                </a:cubicBezTo>
                <a:cubicBezTo>
                  <a:pt x="6168390" y="2302662"/>
                  <a:pt x="6257925" y="1849271"/>
                  <a:pt x="6102668" y="1252054"/>
                </a:cubicBezTo>
                <a:cubicBezTo>
                  <a:pt x="5969318" y="741514"/>
                  <a:pt x="6020753" y="376706"/>
                  <a:pt x="6256020" y="168109"/>
                </a:cubicBezTo>
                <a:cubicBezTo>
                  <a:pt x="6480810" y="-31916"/>
                  <a:pt x="7203281" y="27615"/>
                  <a:pt x="7391400" y="7136"/>
                </a:cubicBezTo>
                <a:cubicBezTo>
                  <a:pt x="7579519" y="-13343"/>
                  <a:pt x="7569677" y="13645"/>
                  <a:pt x="7384733" y="45236"/>
                </a:cubicBezTo>
                <a:cubicBezTo>
                  <a:pt x="7199789" y="76827"/>
                  <a:pt x="6550343" y="-41441"/>
                  <a:pt x="6281738" y="196684"/>
                </a:cubicBezTo>
                <a:cubicBezTo>
                  <a:pt x="6058853" y="394804"/>
                  <a:pt x="6011228" y="747229"/>
                  <a:pt x="6139815" y="1242529"/>
                </a:cubicBezTo>
                <a:cubicBezTo>
                  <a:pt x="6221730" y="1557806"/>
                  <a:pt x="6237923" y="1834031"/>
                  <a:pt x="6187440" y="2064537"/>
                </a:cubicBezTo>
                <a:cubicBezTo>
                  <a:pt x="6138863" y="2283612"/>
                  <a:pt x="6031230" y="2460777"/>
                  <a:pt x="5866448" y="2593174"/>
                </a:cubicBezTo>
                <a:cubicBezTo>
                  <a:pt x="5572125" y="2828441"/>
                  <a:pt x="5102543" y="2911309"/>
                  <a:pt x="4510088" y="2833204"/>
                </a:cubicBezTo>
                <a:cubicBezTo>
                  <a:pt x="3935730" y="2757004"/>
                  <a:pt x="3282315" y="2536024"/>
                  <a:pt x="2620328" y="2194077"/>
                </a:cubicBezTo>
                <a:cubicBezTo>
                  <a:pt x="1574483" y="2598889"/>
                  <a:pt x="927735" y="3251352"/>
                  <a:pt x="568643" y="3726649"/>
                </a:cubicBezTo>
                <a:cubicBezTo>
                  <a:pt x="180023" y="4242904"/>
                  <a:pt x="37148" y="4668672"/>
                  <a:pt x="36195" y="4673434"/>
                </a:cubicBezTo>
                <a:close/>
              </a:path>
            </a:pathLst>
          </a:custGeom>
          <a:gradFill>
            <a:gsLst>
              <a:gs pos="92000">
                <a:schemeClr val="accent2">
                  <a:alpha val="0"/>
                </a:schemeClr>
              </a:gs>
              <a:gs pos="32000">
                <a:srgbClr val="12ABDB">
                  <a:alpha val="17000"/>
                </a:srgbClr>
              </a:gs>
              <a:gs pos="17000">
                <a:schemeClr val="accent2">
                  <a:alpha val="0"/>
                </a:schemeClr>
              </a:gs>
              <a:gs pos="49000">
                <a:srgbClr val="12ABDB"/>
              </a:gs>
              <a:gs pos="70000">
                <a:schemeClr val="accent2"/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0" name="Title 10"/>
          <p:cNvSpPr>
            <a:spLocks noGrp="1"/>
          </p:cNvSpPr>
          <p:nvPr>
            <p:ph type="ctrTitle"/>
          </p:nvPr>
        </p:nvSpPr>
        <p:spPr>
          <a:xfrm>
            <a:off x="7883434" y="3342034"/>
            <a:ext cx="3942174" cy="498598"/>
          </a:xfrm>
        </p:spPr>
        <p:txBody>
          <a:bodyPr anchor="ctr"/>
          <a:lstStyle/>
          <a:p>
            <a:r>
              <a:rPr lang="en-GB" sz="3600" err="1">
                <a:solidFill>
                  <a:srgbClr val="272736"/>
                </a:solidFill>
              </a:rPr>
              <a:t>Yuwaah</a:t>
            </a:r>
            <a:endParaRPr lang="en-GB" sz="3600">
              <a:solidFill>
                <a:srgbClr val="272736"/>
              </a:solidFill>
            </a:endParaRPr>
          </a:p>
        </p:txBody>
      </p:sp>
      <p:sp>
        <p:nvSpPr>
          <p:cNvPr id="7" name="Title 10"/>
          <p:cNvSpPr txBox="1"/>
          <p:nvPr/>
        </p:nvSpPr>
        <p:spPr>
          <a:xfrm>
            <a:off x="7841839" y="4056031"/>
            <a:ext cx="3942174" cy="553998"/>
          </a:xfrm>
          <a:prstGeom prst="rect">
            <a:avLst/>
          </a:prstGeom>
        </p:spPr>
        <p:txBody>
          <a:bodyPr vert="horz" wrap="square" lIns="36000" tIns="0" rIns="36000" bIns="0" rtlCol="0" anchor="ctr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60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r>
              <a:rPr lang="en-US" sz="2000" b="0" dirty="0">
                <a:solidFill>
                  <a:srgbClr val="272736"/>
                </a:solidFill>
              </a:rPr>
              <a:t>Job Seeker Workflow Diagram</a:t>
            </a:r>
            <a:r>
              <a:rPr lang="en-GB" sz="2000" b="0" dirty="0">
                <a:solidFill>
                  <a:srgbClr val="272736"/>
                </a:solidFill>
              </a:rPr>
              <a:t>, December 2022</a:t>
            </a:r>
            <a:endParaRPr lang="en-GB" sz="2000" b="0" dirty="0">
              <a:solidFill>
                <a:srgbClr val="27273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34393" y="25633"/>
            <a:ext cx="12101158" cy="4152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2B40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163627" y="92140"/>
            <a:ext cx="4018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YuWaah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:: Job Seeker 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Workflow Diagram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5421" y="463890"/>
            <a:ext cx="12101158" cy="6350617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pSp>
        <p:nvGrpSpPr>
          <p:cNvPr id="95" name="Groupe 1"/>
          <p:cNvGrpSpPr>
            <a:grpSpLocks noChangeAspect="1"/>
          </p:cNvGrpSpPr>
          <p:nvPr/>
        </p:nvGrpSpPr>
        <p:grpSpPr>
          <a:xfrm>
            <a:off x="9040378" y="41140"/>
            <a:ext cx="507517" cy="369333"/>
            <a:chOff x="11501102" y="171573"/>
            <a:chExt cx="419436" cy="388988"/>
          </a:xfrm>
        </p:grpSpPr>
        <p:sp>
          <p:nvSpPr>
            <p:cNvPr id="96" name="Freeform 13"/>
            <p:cNvSpPr/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sp>
          <p:nvSpPr>
            <p:cNvPr id="97" name="Freeform 14"/>
            <p:cNvSpPr/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</p:grpSp>
      <p:pic>
        <p:nvPicPr>
          <p:cNvPr id="98" name="Picture 97" descr="Logo&#10;&#10;Description automatically generated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11995" y="-244159"/>
            <a:ext cx="2200045" cy="1041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Oval 98"/>
          <p:cNvSpPr/>
          <p:nvPr/>
        </p:nvSpPr>
        <p:spPr>
          <a:xfrm>
            <a:off x="4498663" y="875041"/>
            <a:ext cx="1415061" cy="56146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YuWaah!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Aggregator  Platform App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7086879" y="1751834"/>
            <a:ext cx="1280162" cy="3300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User search for job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1" name="Flowchart: Data 100"/>
          <p:cNvSpPr/>
          <p:nvPr/>
        </p:nvSpPr>
        <p:spPr>
          <a:xfrm>
            <a:off x="7139851" y="864925"/>
            <a:ext cx="1174218" cy="605510"/>
          </a:xfrm>
          <a:prstGeom prst="flowChartInputOutput">
            <a:avLst/>
          </a:prstGeom>
          <a:solidFill>
            <a:srgbClr val="7F7F7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Signup 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2" name="Oval 101"/>
          <p:cNvSpPr/>
          <p:nvPr/>
        </p:nvSpPr>
        <p:spPr>
          <a:xfrm>
            <a:off x="6281048" y="898562"/>
            <a:ext cx="319388" cy="189186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1</a:t>
            </a:r>
            <a:endParaRPr lang="en-IN" sz="1050" dirty="0"/>
          </a:p>
        </p:txBody>
      </p:sp>
      <p:sp>
        <p:nvSpPr>
          <p:cNvPr id="103" name="Oval 102"/>
          <p:cNvSpPr/>
          <p:nvPr/>
        </p:nvSpPr>
        <p:spPr>
          <a:xfrm>
            <a:off x="8722554" y="836928"/>
            <a:ext cx="317824" cy="275342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2</a:t>
            </a:r>
            <a:endParaRPr lang="en-IN" sz="1050" dirty="0"/>
          </a:p>
        </p:txBody>
      </p:sp>
      <p:sp>
        <p:nvSpPr>
          <p:cNvPr id="104" name="Cylinder 103"/>
          <p:cNvSpPr/>
          <p:nvPr/>
        </p:nvSpPr>
        <p:spPr>
          <a:xfrm>
            <a:off x="10481727" y="663816"/>
            <a:ext cx="1140378" cy="973072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PostgreSQL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DB(Job seeker detail and Employer detail)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548702" y="2133480"/>
            <a:ext cx="1280162" cy="33004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User Journey 2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(Profile-based)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8782847" y="2079338"/>
            <a:ext cx="1280162" cy="33004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User Journey 1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(Preference-based)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237704" y="598460"/>
          <a:ext cx="1646464" cy="1676090"/>
        </p:xfrm>
        <a:graphic>
          <a:graphicData uri="http://schemas.openxmlformats.org/drawingml/2006/table">
            <a:tbl>
              <a:tblPr/>
              <a:tblGrid>
                <a:gridCol w="226310"/>
                <a:gridCol w="1420154"/>
              </a:tblGrid>
              <a:tr h="3352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A2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Preference Fields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5A29"/>
                    </a:solidFill>
                  </a:tcPr>
                </a:tc>
              </a:tr>
              <a:tr h="1676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Gender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76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Education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76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marL="0" algn="l" defTabSz="609600" rtl="0" eaLnBrk="1" fontAlgn="b" latinLnBrk="0" hangingPunct="1"/>
                      <a:r>
                        <a:rPr kumimoji="1"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Experience</a:t>
                      </a:r>
                      <a:endParaRPr kumimoji="1"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76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marL="0" algn="l" defTabSz="609600" rtl="0" eaLnBrk="1" fontAlgn="b" latinLnBrk="0" hangingPunct="1"/>
                      <a:r>
                        <a:rPr kumimoji="1"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Salary</a:t>
                      </a:r>
                      <a:endParaRPr kumimoji="1"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76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marL="0" algn="l" defTabSz="609600" rtl="0" eaLnBrk="1" fontAlgn="b" latinLnBrk="0" hangingPunct="1"/>
                      <a:r>
                        <a:rPr kumimoji="1"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Job Title</a:t>
                      </a:r>
                      <a:endParaRPr kumimoji="1"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76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marL="0" algn="l" defTabSz="609600" rtl="0" eaLnBrk="1" fontAlgn="b" latinLnBrk="0" hangingPunct="1"/>
                      <a:r>
                        <a:rPr kumimoji="1"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Skillset</a:t>
                      </a:r>
                      <a:endParaRPr kumimoji="1"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76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marL="0" algn="l" defTabSz="609600" rtl="0" eaLnBrk="1" fontAlgn="b" latinLnBrk="0" hangingPunct="1"/>
                      <a:r>
                        <a:rPr kumimoji="1"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Location</a:t>
                      </a:r>
                      <a:endParaRPr kumimoji="1"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76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defRPr>
                      </a:lvl9pPr>
                    </a:lstStyle>
                    <a:p>
                      <a:pPr marL="0" algn="l" defTabSz="609600" rtl="0" eaLnBrk="1" fontAlgn="b" latinLnBrk="0" hangingPunct="1"/>
                      <a:endParaRPr kumimoji="1"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8" name="Rectangle 117"/>
          <p:cNvSpPr/>
          <p:nvPr/>
        </p:nvSpPr>
        <p:spPr>
          <a:xfrm>
            <a:off x="4225774" y="2827522"/>
            <a:ext cx="1527123" cy="2833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Upload User Resume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6828865" y="2858186"/>
            <a:ext cx="1640607" cy="2833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Build Resume by </a:t>
            </a:r>
            <a:r>
              <a:rPr lang="en-IN" sz="1100" dirty="0" err="1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Yuwaah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1" name="Rectangle: Single Corner Snipped 120"/>
          <p:cNvSpPr/>
          <p:nvPr/>
        </p:nvSpPr>
        <p:spPr>
          <a:xfrm>
            <a:off x="5385584" y="3716301"/>
            <a:ext cx="1488621" cy="668173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User form for entering information to create  </a:t>
            </a:r>
            <a:r>
              <a:rPr lang="en-IN" sz="1100" dirty="0" err="1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Yuwaah</a:t>
            </a:r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resume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2" name="Flowchart: Alternate Process 121"/>
          <p:cNvSpPr/>
          <p:nvPr/>
        </p:nvSpPr>
        <p:spPr>
          <a:xfrm>
            <a:off x="2545053" y="3606401"/>
            <a:ext cx="1610476" cy="596039"/>
          </a:xfrm>
          <a:prstGeom prst="flowChartAlternateProcess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>
                <a:solidFill>
                  <a:schemeClr val="dk1"/>
                </a:solidFill>
              </a:rPr>
              <a:t>OCR for data extraction from a user's resume</a:t>
            </a:r>
            <a:endParaRPr lang="en-IN" sz="1200" dirty="0">
              <a:solidFill>
                <a:schemeClr val="dk1"/>
              </a:solidFill>
            </a:endParaRPr>
          </a:p>
        </p:txBody>
      </p:sp>
      <p:cxnSp>
        <p:nvCxnSpPr>
          <p:cNvPr id="129" name="Connector: Elbow 128"/>
          <p:cNvCxnSpPr/>
          <p:nvPr/>
        </p:nvCxnSpPr>
        <p:spPr>
          <a:xfrm rot="5400000">
            <a:off x="6763283" y="3207143"/>
            <a:ext cx="929679" cy="798516"/>
          </a:xfrm>
          <a:prstGeom prst="bentConnector3">
            <a:avLst>
              <a:gd name="adj1" fmla="val 9866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stCxn id="122" idx="3"/>
          </p:cNvCxnSpPr>
          <p:nvPr/>
        </p:nvCxnSpPr>
        <p:spPr>
          <a:xfrm>
            <a:off x="4155529" y="3904421"/>
            <a:ext cx="1258719" cy="10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: Elbow 140"/>
          <p:cNvCxnSpPr>
            <a:stCxn id="118" idx="1"/>
            <a:endCxn id="12" idx="0"/>
          </p:cNvCxnSpPr>
          <p:nvPr/>
        </p:nvCxnSpPr>
        <p:spPr>
          <a:xfrm rot="10800000" flipV="1">
            <a:off x="1210204" y="2969210"/>
            <a:ext cx="3015570" cy="32714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: Rounded Corners 144"/>
          <p:cNvSpPr/>
          <p:nvPr/>
        </p:nvSpPr>
        <p:spPr>
          <a:xfrm>
            <a:off x="8795015" y="2736161"/>
            <a:ext cx="1255826" cy="8463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/>
              <a:t>Algorithm to Recommend Job list</a:t>
            </a:r>
            <a:endParaRPr lang="en-IN" sz="1200" dirty="0"/>
          </a:p>
        </p:txBody>
      </p:sp>
      <p:sp>
        <p:nvSpPr>
          <p:cNvPr id="146" name="Rectangle 145"/>
          <p:cNvSpPr/>
          <p:nvPr/>
        </p:nvSpPr>
        <p:spPr>
          <a:xfrm>
            <a:off x="8770679" y="3915044"/>
            <a:ext cx="1280162" cy="33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Job Lists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5347121" y="4732524"/>
            <a:ext cx="1547286" cy="521276"/>
          </a:xfrm>
          <a:prstGeom prst="rect">
            <a:avLst/>
          </a:prstGeom>
          <a:solidFill>
            <a:srgbClr val="7F7F7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Submit User Information as </a:t>
            </a:r>
            <a:r>
              <a:rPr lang="en-IN" sz="1100" dirty="0" err="1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Yuwaah</a:t>
            </a:r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Resume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9" name="Rectangle: Rounded Corners 158"/>
          <p:cNvSpPr/>
          <p:nvPr/>
        </p:nvSpPr>
        <p:spPr>
          <a:xfrm>
            <a:off x="5492778" y="5583840"/>
            <a:ext cx="1255826" cy="63079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/>
              <a:t>Algorithm to Recommend Job list</a:t>
            </a:r>
            <a:endParaRPr lang="en-IN" sz="1200" dirty="0"/>
          </a:p>
        </p:txBody>
      </p:sp>
      <p:sp>
        <p:nvSpPr>
          <p:cNvPr id="160" name="Rectangle 159"/>
          <p:cNvSpPr/>
          <p:nvPr/>
        </p:nvSpPr>
        <p:spPr>
          <a:xfrm>
            <a:off x="5482972" y="6434224"/>
            <a:ext cx="1280162" cy="33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Job Lists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1" name="Cylinder 160"/>
          <p:cNvSpPr/>
          <p:nvPr/>
        </p:nvSpPr>
        <p:spPr>
          <a:xfrm>
            <a:off x="10917881" y="5514754"/>
            <a:ext cx="1029903" cy="772435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Elasticsearch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  <a:p>
            <a:pPr algn="ctr"/>
            <a:r>
              <a:rPr lang="en-IN" sz="11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DB(Job Description)</a:t>
            </a:r>
            <a:endParaRPr lang="en-IN" sz="1100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70" name="Straight Arrow Connector 169"/>
          <p:cNvCxnSpPr>
            <a:stCxn id="99" idx="6"/>
            <a:endCxn id="101" idx="2"/>
          </p:cNvCxnSpPr>
          <p:nvPr/>
        </p:nvCxnSpPr>
        <p:spPr>
          <a:xfrm>
            <a:off x="5913724" y="1155773"/>
            <a:ext cx="1343549" cy="11907"/>
          </a:xfrm>
          <a:prstGeom prst="straightConnector1">
            <a:avLst/>
          </a:prstGeom>
          <a:ln w="12700">
            <a:solidFill>
              <a:schemeClr val="tx1">
                <a:alpha val="9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stCxn id="101" idx="5"/>
            <a:endCxn id="104" idx="2"/>
          </p:cNvCxnSpPr>
          <p:nvPr/>
        </p:nvCxnSpPr>
        <p:spPr>
          <a:xfrm flipV="1">
            <a:off x="8196647" y="1150352"/>
            <a:ext cx="2285080" cy="173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: Elbow 174"/>
          <p:cNvCxnSpPr>
            <a:stCxn id="100" idx="1"/>
            <a:endCxn id="115" idx="0"/>
          </p:cNvCxnSpPr>
          <p:nvPr/>
        </p:nvCxnSpPr>
        <p:spPr>
          <a:xfrm rot="10800000" flipV="1">
            <a:off x="6188783" y="1916854"/>
            <a:ext cx="898096" cy="2166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: Elbow 178"/>
          <p:cNvCxnSpPr>
            <a:stCxn id="100" idx="3"/>
            <a:endCxn id="116" idx="0"/>
          </p:cNvCxnSpPr>
          <p:nvPr/>
        </p:nvCxnSpPr>
        <p:spPr>
          <a:xfrm>
            <a:off x="8367041" y="1916854"/>
            <a:ext cx="1055887" cy="16248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>
            <a:endCxn id="100" idx="0"/>
          </p:cNvCxnSpPr>
          <p:nvPr/>
        </p:nvCxnSpPr>
        <p:spPr>
          <a:xfrm>
            <a:off x="7726960" y="1470435"/>
            <a:ext cx="0" cy="281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Connector: Elbow 183"/>
          <p:cNvCxnSpPr>
            <a:endCxn id="118" idx="0"/>
          </p:cNvCxnSpPr>
          <p:nvPr/>
        </p:nvCxnSpPr>
        <p:spPr>
          <a:xfrm rot="10800000" flipV="1">
            <a:off x="4989337" y="2345622"/>
            <a:ext cx="561731" cy="4819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: Elbow 185"/>
          <p:cNvCxnSpPr>
            <a:stCxn id="115" idx="3"/>
            <a:endCxn id="119" idx="0"/>
          </p:cNvCxnSpPr>
          <p:nvPr/>
        </p:nvCxnSpPr>
        <p:spPr>
          <a:xfrm>
            <a:off x="6828864" y="2298500"/>
            <a:ext cx="820305" cy="5596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/>
          <p:cNvCxnSpPr>
            <a:stCxn id="116" idx="2"/>
            <a:endCxn id="145" idx="0"/>
          </p:cNvCxnSpPr>
          <p:nvPr/>
        </p:nvCxnSpPr>
        <p:spPr>
          <a:xfrm>
            <a:off x="9422928" y="2409378"/>
            <a:ext cx="0" cy="3267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/>
          <p:cNvCxnSpPr>
            <a:stCxn id="145" idx="2"/>
            <a:endCxn id="146" idx="0"/>
          </p:cNvCxnSpPr>
          <p:nvPr/>
        </p:nvCxnSpPr>
        <p:spPr>
          <a:xfrm flipH="1">
            <a:off x="9410760" y="3582559"/>
            <a:ext cx="12168" cy="3324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: Elbow 202"/>
          <p:cNvCxnSpPr>
            <a:stCxn id="145" idx="3"/>
            <a:endCxn id="161" idx="1"/>
          </p:cNvCxnSpPr>
          <p:nvPr/>
        </p:nvCxnSpPr>
        <p:spPr>
          <a:xfrm>
            <a:off x="10050841" y="3159360"/>
            <a:ext cx="1381992" cy="2355394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/>
          <p:cNvCxnSpPr>
            <a:stCxn id="121" idx="1"/>
            <a:endCxn id="149" idx="0"/>
          </p:cNvCxnSpPr>
          <p:nvPr/>
        </p:nvCxnSpPr>
        <p:spPr>
          <a:xfrm flipH="1">
            <a:off x="6120764" y="4384474"/>
            <a:ext cx="9131" cy="348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/>
          <p:cNvCxnSpPr>
            <a:stCxn id="159" idx="2"/>
            <a:endCxn id="160" idx="0"/>
          </p:cNvCxnSpPr>
          <p:nvPr/>
        </p:nvCxnSpPr>
        <p:spPr>
          <a:xfrm>
            <a:off x="6120691" y="6214632"/>
            <a:ext cx="2362" cy="2195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: Elbow 228"/>
          <p:cNvCxnSpPr>
            <a:stCxn id="149" idx="3"/>
            <a:endCxn id="104" idx="3"/>
          </p:cNvCxnSpPr>
          <p:nvPr/>
        </p:nvCxnSpPr>
        <p:spPr>
          <a:xfrm flipV="1">
            <a:off x="6894407" y="1636888"/>
            <a:ext cx="4157509" cy="335627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/>
          <p:cNvCxnSpPr>
            <a:stCxn id="159" idx="3"/>
            <a:endCxn id="161" idx="2"/>
          </p:cNvCxnSpPr>
          <p:nvPr/>
        </p:nvCxnSpPr>
        <p:spPr>
          <a:xfrm>
            <a:off x="6748604" y="5899236"/>
            <a:ext cx="4169277" cy="173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9040682" y="1481191"/>
            <a:ext cx="317824" cy="275342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3</a:t>
            </a:r>
            <a:endParaRPr lang="en-IN" sz="1050" dirty="0"/>
          </a:p>
        </p:txBody>
      </p:sp>
      <p:sp>
        <p:nvSpPr>
          <p:cNvPr id="246" name="Oval 245"/>
          <p:cNvSpPr/>
          <p:nvPr/>
        </p:nvSpPr>
        <p:spPr>
          <a:xfrm>
            <a:off x="5621387" y="1828704"/>
            <a:ext cx="317824" cy="275342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7</a:t>
            </a:r>
            <a:endParaRPr lang="en-IN" sz="1050" dirty="0"/>
          </a:p>
        </p:txBody>
      </p:sp>
      <p:sp>
        <p:nvSpPr>
          <p:cNvPr id="247" name="Oval 246"/>
          <p:cNvSpPr/>
          <p:nvPr/>
        </p:nvSpPr>
        <p:spPr>
          <a:xfrm>
            <a:off x="9670372" y="1722218"/>
            <a:ext cx="317824" cy="275342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4</a:t>
            </a:r>
            <a:endParaRPr lang="en-IN" sz="1050" dirty="0"/>
          </a:p>
        </p:txBody>
      </p:sp>
      <p:sp>
        <p:nvSpPr>
          <p:cNvPr id="248" name="Oval 247"/>
          <p:cNvSpPr/>
          <p:nvPr/>
        </p:nvSpPr>
        <p:spPr>
          <a:xfrm>
            <a:off x="4398110" y="2507314"/>
            <a:ext cx="317824" cy="275342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8</a:t>
            </a:r>
            <a:endParaRPr lang="en-IN" sz="1050" dirty="0"/>
          </a:p>
        </p:txBody>
      </p:sp>
      <p:sp>
        <p:nvSpPr>
          <p:cNvPr id="249" name="Oval 248"/>
          <p:cNvSpPr/>
          <p:nvPr/>
        </p:nvSpPr>
        <p:spPr>
          <a:xfrm>
            <a:off x="9904097" y="2451864"/>
            <a:ext cx="317824" cy="275342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5</a:t>
            </a:r>
            <a:endParaRPr lang="en-IN" sz="1050" dirty="0"/>
          </a:p>
        </p:txBody>
      </p:sp>
      <p:sp>
        <p:nvSpPr>
          <p:cNvPr id="250" name="Oval 249"/>
          <p:cNvSpPr/>
          <p:nvPr/>
        </p:nvSpPr>
        <p:spPr>
          <a:xfrm>
            <a:off x="7843171" y="2563776"/>
            <a:ext cx="485171" cy="21888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17</a:t>
            </a:r>
            <a:endParaRPr lang="en-IN" sz="1050" dirty="0"/>
          </a:p>
        </p:txBody>
      </p:sp>
      <p:sp>
        <p:nvSpPr>
          <p:cNvPr id="251" name="Oval 250"/>
          <p:cNvSpPr/>
          <p:nvPr/>
        </p:nvSpPr>
        <p:spPr>
          <a:xfrm>
            <a:off x="1666529" y="2645939"/>
            <a:ext cx="317824" cy="275342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9</a:t>
            </a:r>
            <a:endParaRPr lang="en-IN" sz="1050" dirty="0"/>
          </a:p>
        </p:txBody>
      </p:sp>
      <p:sp>
        <p:nvSpPr>
          <p:cNvPr id="252" name="Oval 251"/>
          <p:cNvSpPr/>
          <p:nvPr/>
        </p:nvSpPr>
        <p:spPr>
          <a:xfrm>
            <a:off x="2453046" y="3224818"/>
            <a:ext cx="473522" cy="318103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10</a:t>
            </a:r>
            <a:endParaRPr lang="en-IN" sz="1050" dirty="0"/>
          </a:p>
        </p:txBody>
      </p:sp>
      <p:sp>
        <p:nvSpPr>
          <p:cNvPr id="253" name="Oval 252"/>
          <p:cNvSpPr/>
          <p:nvPr/>
        </p:nvSpPr>
        <p:spPr>
          <a:xfrm>
            <a:off x="4631918" y="3589475"/>
            <a:ext cx="477429" cy="253651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11</a:t>
            </a:r>
            <a:endParaRPr lang="en-IN" sz="1050" dirty="0"/>
          </a:p>
        </p:txBody>
      </p:sp>
      <p:sp>
        <p:nvSpPr>
          <p:cNvPr id="254" name="Oval 253"/>
          <p:cNvSpPr/>
          <p:nvPr/>
        </p:nvSpPr>
        <p:spPr>
          <a:xfrm>
            <a:off x="6938869" y="3617030"/>
            <a:ext cx="553659" cy="268151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12</a:t>
            </a:r>
            <a:endParaRPr lang="en-IN" sz="1050" dirty="0"/>
          </a:p>
        </p:txBody>
      </p:sp>
      <p:sp>
        <p:nvSpPr>
          <p:cNvPr id="255" name="Oval 254"/>
          <p:cNvSpPr/>
          <p:nvPr/>
        </p:nvSpPr>
        <p:spPr>
          <a:xfrm>
            <a:off x="6667570" y="4434602"/>
            <a:ext cx="460480" cy="268622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13</a:t>
            </a:r>
            <a:endParaRPr lang="en-IN" sz="1050" dirty="0"/>
          </a:p>
        </p:txBody>
      </p:sp>
      <p:sp>
        <p:nvSpPr>
          <p:cNvPr id="256" name="Oval 255"/>
          <p:cNvSpPr/>
          <p:nvPr/>
        </p:nvSpPr>
        <p:spPr>
          <a:xfrm>
            <a:off x="1323501" y="5540838"/>
            <a:ext cx="461921" cy="250597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14</a:t>
            </a:r>
            <a:endParaRPr lang="en-IN" sz="1050" dirty="0"/>
          </a:p>
        </p:txBody>
      </p:sp>
      <p:sp>
        <p:nvSpPr>
          <p:cNvPr id="257" name="Oval 256"/>
          <p:cNvSpPr/>
          <p:nvPr/>
        </p:nvSpPr>
        <p:spPr>
          <a:xfrm>
            <a:off x="6956727" y="5582542"/>
            <a:ext cx="461921" cy="262166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15</a:t>
            </a:r>
            <a:endParaRPr lang="en-IN" sz="1050" dirty="0"/>
          </a:p>
        </p:txBody>
      </p:sp>
      <p:sp>
        <p:nvSpPr>
          <p:cNvPr id="258" name="Oval 257"/>
          <p:cNvSpPr/>
          <p:nvPr/>
        </p:nvSpPr>
        <p:spPr>
          <a:xfrm>
            <a:off x="9943493" y="3617031"/>
            <a:ext cx="317824" cy="275342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6</a:t>
            </a:r>
            <a:endParaRPr lang="en-IN" sz="1050" dirty="0"/>
          </a:p>
        </p:txBody>
      </p:sp>
      <p:sp>
        <p:nvSpPr>
          <p:cNvPr id="260" name="Oval 259"/>
          <p:cNvSpPr/>
          <p:nvPr/>
        </p:nvSpPr>
        <p:spPr>
          <a:xfrm>
            <a:off x="6792139" y="6115421"/>
            <a:ext cx="514361" cy="259457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/>
              <a:t>16</a:t>
            </a:r>
            <a:endParaRPr lang="en-IN" sz="1050" dirty="0"/>
          </a:p>
        </p:txBody>
      </p:sp>
      <p:sp>
        <p:nvSpPr>
          <p:cNvPr id="12" name="Rectangle: Rounded Corners 11"/>
          <p:cNvSpPr/>
          <p:nvPr/>
        </p:nvSpPr>
        <p:spPr>
          <a:xfrm>
            <a:off x="237704" y="3296356"/>
            <a:ext cx="1945000" cy="12226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404261" y="3716301"/>
            <a:ext cx="6989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Blob</a:t>
            </a:r>
            <a:endParaRPr lang="en-IN" sz="1200" dirty="0"/>
          </a:p>
          <a:p>
            <a:r>
              <a:rPr lang="en-IN" sz="1200" dirty="0"/>
              <a:t>User Resume</a:t>
            </a:r>
            <a:endParaRPr lang="en-IN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1292768" y="3716301"/>
            <a:ext cx="69158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 err="1"/>
              <a:t>Yuwaah</a:t>
            </a:r>
            <a:r>
              <a:rPr lang="en-IN" sz="1200" dirty="0"/>
              <a:t> Storage Account</a:t>
            </a:r>
            <a:endParaRPr lang="en-IN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542692" y="3429000"/>
            <a:ext cx="13190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Azure Container</a:t>
            </a:r>
            <a:endParaRPr lang="en-IN" sz="1200" dirty="0"/>
          </a:p>
        </p:txBody>
      </p:sp>
      <p:cxnSp>
        <p:nvCxnSpPr>
          <p:cNvPr id="23" name="Straight Arrow Connector 22"/>
          <p:cNvCxnSpPr>
            <a:stCxn id="12" idx="3"/>
            <a:endCxn id="122" idx="1"/>
          </p:cNvCxnSpPr>
          <p:nvPr/>
        </p:nvCxnSpPr>
        <p:spPr>
          <a:xfrm flipV="1">
            <a:off x="2182704" y="3904421"/>
            <a:ext cx="362349" cy="3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Connector: Elbow 225"/>
          <p:cNvCxnSpPr>
            <a:stCxn id="149" idx="1"/>
          </p:cNvCxnSpPr>
          <p:nvPr/>
        </p:nvCxnSpPr>
        <p:spPr>
          <a:xfrm rot="10800000">
            <a:off x="2053539" y="4474000"/>
            <a:ext cx="3293583" cy="5191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Connector: Elbow 227"/>
          <p:cNvCxnSpPr>
            <a:stCxn id="12" idx="2"/>
            <a:endCxn id="159" idx="1"/>
          </p:cNvCxnSpPr>
          <p:nvPr/>
        </p:nvCxnSpPr>
        <p:spPr>
          <a:xfrm rot="16200000" flipH="1">
            <a:off x="2661389" y="3067847"/>
            <a:ext cx="1380204" cy="42825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4" name="Connector: Elbow 243"/>
          <p:cNvCxnSpPr/>
          <p:nvPr/>
        </p:nvCxnSpPr>
        <p:spPr>
          <a:xfrm flipV="1">
            <a:off x="8351520" y="1335405"/>
            <a:ext cx="2130425" cy="411480"/>
          </a:xfrm>
          <a:prstGeom prst="bentConnector3">
            <a:avLst>
              <a:gd name="adj1" fmla="val 5001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24110" y="5783983"/>
            <a:ext cx="147761" cy="148436"/>
          </a:xfrm>
          <a:prstGeom prst="rect">
            <a:avLst/>
          </a:prstGeom>
          <a:solidFill>
            <a:srgbClr val="BF9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12345" y="5719843"/>
            <a:ext cx="1001027" cy="358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User Journey</a:t>
            </a:r>
            <a:endParaRPr lang="en-IN"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126253" y="6019400"/>
            <a:ext cx="164163" cy="1470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4" name="TextBox 73"/>
          <p:cNvSpPr txBox="1"/>
          <p:nvPr/>
        </p:nvSpPr>
        <p:spPr>
          <a:xfrm>
            <a:off x="320547" y="5941548"/>
            <a:ext cx="25882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Storage(Database, Azure Storage)</a:t>
            </a:r>
            <a:endParaRPr lang="en-IN" sz="1200" dirty="0"/>
          </a:p>
        </p:txBody>
      </p:sp>
      <p:sp>
        <p:nvSpPr>
          <p:cNvPr id="75" name="TextBox 74"/>
          <p:cNvSpPr txBox="1"/>
          <p:nvPr/>
        </p:nvSpPr>
        <p:spPr>
          <a:xfrm>
            <a:off x="134453" y="6236437"/>
            <a:ext cx="139890" cy="1470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0" name="TextBox 79"/>
          <p:cNvSpPr txBox="1"/>
          <p:nvPr/>
        </p:nvSpPr>
        <p:spPr>
          <a:xfrm>
            <a:off x="313446" y="6201926"/>
            <a:ext cx="1146432" cy="358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IN" dirty="0"/>
              <a:t>AI/ML Model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23060" y="6434224"/>
            <a:ext cx="139890" cy="1470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06485" y="6312319"/>
            <a:ext cx="2033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Recommend job</a:t>
            </a:r>
            <a:r>
              <a:rPr lang="en-IN" dirty="0"/>
              <a:t> </a:t>
            </a:r>
            <a:r>
              <a:rPr lang="en-IN" sz="1200" dirty="0"/>
              <a:t>list</a:t>
            </a:r>
            <a:endParaRPr lang="en-IN" sz="1200" dirty="0"/>
          </a:p>
        </p:txBody>
      </p:sp>
      <p:sp>
        <p:nvSpPr>
          <p:cNvPr id="79" name="TextBox 78"/>
          <p:cNvSpPr txBox="1"/>
          <p:nvPr/>
        </p:nvSpPr>
        <p:spPr>
          <a:xfrm>
            <a:off x="121844" y="6661640"/>
            <a:ext cx="165107" cy="153061"/>
          </a:xfrm>
          <a:prstGeom prst="rect">
            <a:avLst/>
          </a:prstGeom>
          <a:solidFill>
            <a:srgbClr val="7F7F7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1" name="TextBox 80"/>
          <p:cNvSpPr txBox="1"/>
          <p:nvPr/>
        </p:nvSpPr>
        <p:spPr>
          <a:xfrm>
            <a:off x="320552" y="6586508"/>
            <a:ext cx="1969044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The Process Event</a:t>
            </a:r>
            <a:endParaRPr lang="en-I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393" y="25633"/>
            <a:ext cx="12101158" cy="4152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2B40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8233" y="475559"/>
            <a:ext cx="12101158" cy="5883551"/>
          </a:xfrm>
          <a:prstGeom prst="rect">
            <a:avLst/>
          </a:prstGeom>
          <a:solidFill>
            <a:srgbClr val="D9D9D9"/>
          </a:solidFill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Calibri" panose="020F0502020204030204" pitchFamily="34" charset="0"/>
                <a:cs typeface="Calibri" panose="020F0502020204030204" pitchFamily="34" charset="0"/>
              </a:rPr>
              <a:t>Steps in the Job Seeker Workflow Diagram </a:t>
            </a:r>
            <a:r>
              <a:rPr lang="en-US" sz="1800" b="1" u="sng" dirty="0"/>
              <a:t>:</a:t>
            </a:r>
            <a:endParaRPr lang="en-IN" sz="1800" u="sng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User will Register/ Signup to  </a:t>
            </a:r>
            <a:r>
              <a:rPr lang="en-IN" sz="1800" dirty="0" err="1"/>
              <a:t>YuWaah</a:t>
            </a:r>
            <a:r>
              <a:rPr lang="en-IN" sz="1800" dirty="0"/>
              <a:t> application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User data will be stored in the</a:t>
            </a:r>
            <a:r>
              <a:rPr lang="en-IN" b="1" dirty="0"/>
              <a:t> </a:t>
            </a:r>
            <a:r>
              <a:rPr lang="en-IN" sz="1800" b="1" dirty="0"/>
              <a:t>PostgreSQL </a:t>
            </a:r>
            <a:r>
              <a:rPr lang="en-IN" sz="1800" dirty="0"/>
              <a:t>database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The User Preference Fields will be saved in the </a:t>
            </a:r>
            <a:r>
              <a:rPr lang="en-IN" sz="1800" b="1" dirty="0"/>
              <a:t>PostgreSQL</a:t>
            </a:r>
            <a:r>
              <a:rPr lang="en-IN" sz="1800" dirty="0"/>
              <a:t> database and Search for preferred jobs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User journey 1 </a:t>
            </a:r>
            <a:r>
              <a:rPr lang="en-IN" sz="1800" dirty="0"/>
              <a:t>(preference based) would send all preference fields via API to AI/ML model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Recommend job list using AI/ML Algorithm(from </a:t>
            </a:r>
            <a:r>
              <a:rPr lang="en-IN" sz="1800" b="1" dirty="0"/>
              <a:t>Elasticsearch</a:t>
            </a:r>
            <a:r>
              <a:rPr lang="en-IN" sz="1800" dirty="0"/>
              <a:t> DB of job post data) 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View the job listed by </a:t>
            </a:r>
            <a:r>
              <a:rPr lang="en-IN" sz="1800" dirty="0" err="1"/>
              <a:t>Yuwaah</a:t>
            </a:r>
            <a:r>
              <a:rPr lang="en-IN" sz="1800" dirty="0"/>
              <a:t> using the API 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User journey 2 </a:t>
            </a:r>
            <a:r>
              <a:rPr lang="en-IN" sz="1800" dirty="0"/>
              <a:t>(Profile based) would send all preference fields with the profile.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The user would submit their previous resume by clicking on the “</a:t>
            </a:r>
            <a:r>
              <a:rPr lang="en-IN" sz="1800" b="1" dirty="0" err="1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UploadUserResume</a:t>
            </a:r>
            <a:r>
              <a:rPr lang="en-IN" sz="1800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” button</a:t>
            </a:r>
            <a:r>
              <a:rPr lang="en-IN" sz="1800" dirty="0"/>
              <a:t>.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The user resume would store in “</a:t>
            </a:r>
            <a:r>
              <a:rPr lang="en-IN" sz="1800" b="1" dirty="0"/>
              <a:t>Azure blob storage</a:t>
            </a:r>
            <a:r>
              <a:rPr lang="en-IN" sz="1800" dirty="0"/>
              <a:t>” 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OCR</a:t>
            </a:r>
            <a:r>
              <a:rPr lang="en-IN" sz="1800" dirty="0"/>
              <a:t> would extract the data from the user's résumé by python packages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Extracted data would be loaded in the </a:t>
            </a:r>
            <a:r>
              <a:rPr lang="en-IN" sz="1800" b="1" dirty="0"/>
              <a:t>UI form </a:t>
            </a:r>
            <a:r>
              <a:rPr lang="en-IN" sz="1800" dirty="0"/>
              <a:t>of the </a:t>
            </a:r>
            <a:r>
              <a:rPr lang="en-IN" sz="1800" dirty="0" err="1"/>
              <a:t>yuwaah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Check whether fill in all information to build a </a:t>
            </a:r>
            <a:r>
              <a:rPr lang="en-IN" sz="1800" dirty="0" err="1"/>
              <a:t>yuwaah</a:t>
            </a:r>
            <a:r>
              <a:rPr lang="en-IN" sz="1800" dirty="0"/>
              <a:t> standard resume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 err="1"/>
              <a:t>Yuwaah</a:t>
            </a:r>
            <a:r>
              <a:rPr lang="en-IN" sz="1800" dirty="0"/>
              <a:t> Resume will be created for the user and would store all information in </a:t>
            </a:r>
            <a:r>
              <a:rPr lang="en-IN" sz="1800" b="1" dirty="0"/>
              <a:t>PostgreSQL</a:t>
            </a:r>
            <a:r>
              <a:rPr lang="en-IN" sz="1800" dirty="0"/>
              <a:t> DB.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The </a:t>
            </a:r>
            <a:r>
              <a:rPr lang="en-IN" sz="1800" dirty="0" err="1"/>
              <a:t>Yuwaah</a:t>
            </a:r>
            <a:r>
              <a:rPr lang="en-IN" sz="1800" dirty="0"/>
              <a:t> resume would store in “</a:t>
            </a:r>
            <a:r>
              <a:rPr lang="en-IN" sz="1800" b="1" dirty="0"/>
              <a:t>Azure blob storage</a:t>
            </a:r>
            <a:r>
              <a:rPr lang="en-IN" sz="1800" dirty="0"/>
              <a:t>”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The method of sending a resume via API from blob storage alone with user preference fields for a recommended job list using AI/ML algorithms(from </a:t>
            </a:r>
            <a:r>
              <a:rPr lang="en-IN" sz="1800" b="1" dirty="0"/>
              <a:t>Elasticsearch</a:t>
            </a:r>
            <a:r>
              <a:rPr lang="en-IN" sz="1800" dirty="0"/>
              <a:t> DB of job post data) 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View the job listed to the user using the API 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800" dirty="0"/>
              <a:t>To create a </a:t>
            </a:r>
            <a:r>
              <a:rPr lang="en-IN" sz="1800" dirty="0" err="1"/>
              <a:t>Yuwaah</a:t>
            </a:r>
            <a:r>
              <a:rPr lang="en-IN" sz="1800" dirty="0"/>
              <a:t> standard resume, the user would click the "</a:t>
            </a:r>
            <a:r>
              <a:rPr lang="en-IN" sz="1800" b="1" dirty="0"/>
              <a:t>Build Resume</a:t>
            </a:r>
            <a:r>
              <a:rPr lang="en-IN" sz="1800" dirty="0"/>
              <a:t>" button after that will continue the </a:t>
            </a:r>
            <a:r>
              <a:rPr lang="en-IN" sz="1800" b="1" dirty="0"/>
              <a:t>12,13,14,15,16</a:t>
            </a:r>
            <a:r>
              <a:rPr lang="en-IN" sz="1800" dirty="0"/>
              <a:t> steps mentioned above in order to get job list.</a:t>
            </a:r>
            <a:endParaRPr lang="en-IN" sz="1800" dirty="0"/>
          </a:p>
        </p:txBody>
      </p:sp>
      <p:grpSp>
        <p:nvGrpSpPr>
          <p:cNvPr id="6" name="Groupe 1"/>
          <p:cNvGrpSpPr>
            <a:grpSpLocks noChangeAspect="1"/>
          </p:cNvGrpSpPr>
          <p:nvPr/>
        </p:nvGrpSpPr>
        <p:grpSpPr>
          <a:xfrm>
            <a:off x="9386887" y="71543"/>
            <a:ext cx="507517" cy="369333"/>
            <a:chOff x="11501102" y="171573"/>
            <a:chExt cx="419436" cy="388988"/>
          </a:xfrm>
        </p:grpSpPr>
        <p:sp>
          <p:nvSpPr>
            <p:cNvPr id="7" name="Freeform 13"/>
            <p:cNvSpPr/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sp>
          <p:nvSpPr>
            <p:cNvPr id="8" name="Freeform 14"/>
            <p:cNvSpPr/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</p:grpSp>
      <p:pic>
        <p:nvPicPr>
          <p:cNvPr id="9" name="Picture 8" descr="Logo&#10;&#10;Description automatically generated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11995" y="-244159"/>
            <a:ext cx="2200045" cy="1041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anded Header - Human (BH-H)">
  <a:themeElements>
    <a:clrScheme name="NTT DATA 2019">
      <a:dk1>
        <a:srgbClr val="1C1C1C"/>
      </a:dk1>
      <a:lt1>
        <a:srgbClr val="FFFFFF"/>
      </a:lt1>
      <a:dk2>
        <a:srgbClr val="0F1C50"/>
      </a:dk2>
      <a:lt2>
        <a:srgbClr val="0080B1"/>
      </a:lt2>
      <a:accent1>
        <a:srgbClr val="C2CEE6"/>
      </a:accent1>
      <a:accent2>
        <a:srgbClr val="6785C1"/>
      </a:accent2>
      <a:accent3>
        <a:srgbClr val="E6B600"/>
      </a:accent3>
      <a:accent4>
        <a:srgbClr val="BC4328"/>
      </a:accent4>
      <a:accent5>
        <a:srgbClr val="83B254"/>
      </a:accent5>
      <a:accent6>
        <a:srgbClr val="AA3C80"/>
      </a:accent6>
      <a:hlink>
        <a:srgbClr val="0000FF"/>
      </a:hlink>
      <a:folHlink>
        <a:srgbClr val="800080"/>
      </a:folHlink>
    </a:clrScheme>
    <a:fontScheme name="源真ゴシック P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apgemini Master 2021">
  <a:themeElements>
    <a:clrScheme name="Capgemini 2021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2B0A3D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2218</Words>
  <Application>WPS Presentation</Application>
  <PresentationFormat>Widescreen</PresentationFormat>
  <Paragraphs>148</Paragraphs>
  <Slides>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2" baseType="lpstr">
      <vt:lpstr>Arial</vt:lpstr>
      <vt:lpstr>SimSun</vt:lpstr>
      <vt:lpstr>Wingdings</vt:lpstr>
      <vt:lpstr>HGPGothicE</vt:lpstr>
      <vt:lpstr>Arial</vt:lpstr>
      <vt:lpstr>HGP創英角ｺﾞｼｯｸUB</vt:lpstr>
      <vt:lpstr>MS PGothic</vt:lpstr>
      <vt:lpstr>Ubuntu</vt:lpstr>
      <vt:lpstr>Calibri</vt:lpstr>
      <vt:lpstr>Calibri</vt:lpstr>
      <vt:lpstr>Microsoft YaHei</vt:lpstr>
      <vt:lpstr>Arial Unicode MS</vt:lpstr>
      <vt:lpstr>Calibri Light</vt:lpstr>
      <vt:lpstr>Yu Gothic</vt:lpstr>
      <vt:lpstr>Ubuntu Medium</vt:lpstr>
      <vt:lpstr>Office Theme</vt:lpstr>
      <vt:lpstr>Branded Header - Human (BH-H)</vt:lpstr>
      <vt:lpstr>Capgemini Master 2021</vt:lpstr>
      <vt:lpstr>TCLayout.ActiveDocument.1</vt:lpstr>
      <vt:lpstr>Yuwaah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G, Sathya</dc:creator>
  <cp:lastModifiedBy>sathya g</cp:lastModifiedBy>
  <cp:revision>121</cp:revision>
  <dcterms:created xsi:type="dcterms:W3CDTF">2022-12-12T03:55:00Z</dcterms:created>
  <dcterms:modified xsi:type="dcterms:W3CDTF">2025-02-24T16:35:40Z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4B1FE80955F14C1EAD5EF5084B90B8BF</vt:lpwstr>
  </property>
  <property fmtid="{D5CDD505-2E9C-101B-9397-08002B2CF9AE}" pid="3" name="KSOProductBuildVer">
    <vt:lpwstr>1033-12.2.0.16731</vt:lpwstr>
  </property>
</Properties>
</file>